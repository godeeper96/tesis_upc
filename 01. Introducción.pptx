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55" r:id="rId2"/>
    <p:sldId id="418" r:id="rId3"/>
    <p:sldId id="422" r:id="rId4"/>
    <p:sldId id="426" r:id="rId5"/>
    <p:sldId id="427" r:id="rId6"/>
    <p:sldId id="437" r:id="rId7"/>
    <p:sldId id="425" r:id="rId8"/>
    <p:sldId id="423" r:id="rId9"/>
    <p:sldId id="439" r:id="rId10"/>
    <p:sldId id="424" r:id="rId11"/>
    <p:sldId id="428" r:id="rId12"/>
    <p:sldId id="430" r:id="rId13"/>
    <p:sldId id="431" r:id="rId14"/>
    <p:sldId id="432" r:id="rId15"/>
    <p:sldId id="438" r:id="rId16"/>
    <p:sldId id="434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orela Triveño Rodriguez" initials="FTR" lastIdx="2" clrIdx="0">
    <p:extLst>
      <p:ext uri="{19B8F6BF-5375-455C-9EA6-DF929625EA0E}">
        <p15:presenceInfo xmlns:p15="http://schemas.microsoft.com/office/powerpoint/2012/main" userId="S-1-5-21-858354178-172630584-1136263860-5987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B664"/>
    <a:srgbClr val="778497"/>
    <a:srgbClr val="352F1D"/>
    <a:srgbClr val="4472C4"/>
    <a:srgbClr val="70AD47"/>
    <a:srgbClr val="43BEB9"/>
    <a:srgbClr val="43BB8D"/>
    <a:srgbClr val="00B050"/>
    <a:srgbClr val="5B9BD5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42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ilfredo W. Burga Durango" userId="c4522bba-e5db-452a-80b9-d219d2a6fe0a" providerId="ADAL" clId="{5C9E5918-1C3B-4935-9428-3E50EFD36434}"/>
    <pc:docChg chg="undo custSel delSld modSld">
      <pc:chgData name="Daniel Wilfredo W. Burga Durango" userId="c4522bba-e5db-452a-80b9-d219d2a6fe0a" providerId="ADAL" clId="{5C9E5918-1C3B-4935-9428-3E50EFD36434}" dt="2026-04-01T01:21:47.093" v="8" actId="2696"/>
      <pc:docMkLst>
        <pc:docMk/>
      </pc:docMkLst>
      <pc:sldChg chg="modSp mod">
        <pc:chgData name="Daniel Wilfredo W. Burga Durango" userId="c4522bba-e5db-452a-80b9-d219d2a6fe0a" providerId="ADAL" clId="{5C9E5918-1C3B-4935-9428-3E50EFD36434}" dt="2026-04-01T00:01:27.031" v="6" actId="20577"/>
        <pc:sldMkLst>
          <pc:docMk/>
          <pc:sldMk cId="3890236236" sldId="355"/>
        </pc:sldMkLst>
        <pc:spChg chg="mod">
          <ac:chgData name="Daniel Wilfredo W. Burga Durango" userId="c4522bba-e5db-452a-80b9-d219d2a6fe0a" providerId="ADAL" clId="{5C9E5918-1C3B-4935-9428-3E50EFD36434}" dt="2026-04-01T00:01:27.031" v="6" actId="20577"/>
          <ac:spMkLst>
            <pc:docMk/>
            <pc:sldMk cId="3890236236" sldId="355"/>
            <ac:spMk id="4" creationId="{00000000-0000-0000-0000-000000000000}"/>
          </ac:spMkLst>
        </pc:spChg>
      </pc:sldChg>
      <pc:sldChg chg="modSp mod">
        <pc:chgData name="Daniel Wilfredo W. Burga Durango" userId="c4522bba-e5db-452a-80b9-d219d2a6fe0a" providerId="ADAL" clId="{5C9E5918-1C3B-4935-9428-3E50EFD36434}" dt="2026-03-31T23:37:34.229" v="4" actId="20577"/>
        <pc:sldMkLst>
          <pc:docMk/>
          <pc:sldMk cId="890415237" sldId="418"/>
        </pc:sldMkLst>
        <pc:spChg chg="mod">
          <ac:chgData name="Daniel Wilfredo W. Burga Durango" userId="c4522bba-e5db-452a-80b9-d219d2a6fe0a" providerId="ADAL" clId="{5C9E5918-1C3B-4935-9428-3E50EFD36434}" dt="2026-03-31T23:37:34.229" v="4" actId="20577"/>
          <ac:spMkLst>
            <pc:docMk/>
            <pc:sldMk cId="890415237" sldId="418"/>
            <ac:spMk id="2" creationId="{00000000-0000-0000-0000-000000000000}"/>
          </ac:spMkLst>
        </pc:spChg>
      </pc:sldChg>
      <pc:sldChg chg="del">
        <pc:chgData name="Daniel Wilfredo W. Burga Durango" userId="c4522bba-e5db-452a-80b9-d219d2a6fe0a" providerId="ADAL" clId="{5C9E5918-1C3B-4935-9428-3E50EFD36434}" dt="2026-04-01T01:21:29.166" v="7" actId="2696"/>
        <pc:sldMkLst>
          <pc:docMk/>
          <pc:sldMk cId="417517506" sldId="429"/>
        </pc:sldMkLst>
      </pc:sldChg>
      <pc:sldChg chg="del">
        <pc:chgData name="Daniel Wilfredo W. Burga Durango" userId="c4522bba-e5db-452a-80b9-d219d2a6fe0a" providerId="ADAL" clId="{5C9E5918-1C3B-4935-9428-3E50EFD36434}" dt="2026-04-01T01:21:47.093" v="8" actId="2696"/>
        <pc:sldMkLst>
          <pc:docMk/>
          <pc:sldMk cId="761794592" sldId="43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229980-CC22-451F-B8F8-72698DF79C1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B0824E80-43F4-46D8-AF19-C9C615ED008D}">
      <dgm:prSet phldrT="[Texto]"/>
      <dgm:spPr/>
      <dgm:t>
        <a:bodyPr/>
        <a:lstStyle/>
        <a:p>
          <a:r>
            <a:rPr lang="es-ES" dirty="0"/>
            <a:t>1. Respeto</a:t>
          </a:r>
        </a:p>
      </dgm:t>
    </dgm:pt>
    <dgm:pt modelId="{770075D8-9CCC-40A6-9645-F8BB148A0662}" type="parTrans" cxnId="{410301E4-F6F3-4FDE-9C53-401F35213A58}">
      <dgm:prSet/>
      <dgm:spPr/>
      <dgm:t>
        <a:bodyPr/>
        <a:lstStyle/>
        <a:p>
          <a:endParaRPr lang="es-ES"/>
        </a:p>
      </dgm:t>
    </dgm:pt>
    <dgm:pt modelId="{6461FAFB-0E87-454F-833E-7B9E3B33FB97}" type="sibTrans" cxnId="{410301E4-F6F3-4FDE-9C53-401F35213A58}">
      <dgm:prSet/>
      <dgm:spPr/>
      <dgm:t>
        <a:bodyPr/>
        <a:lstStyle/>
        <a:p>
          <a:endParaRPr lang="es-ES"/>
        </a:p>
      </dgm:t>
    </dgm:pt>
    <dgm:pt modelId="{1FB5BF48-CD40-47E0-B658-65D8C0F22F76}">
      <dgm:prSet phldrT="[Texto]"/>
      <dgm:spPr/>
      <dgm:t>
        <a:bodyPr/>
        <a:lstStyle/>
        <a:p>
          <a:r>
            <a:rPr lang="es-ES" dirty="0"/>
            <a:t>2. Compromiso</a:t>
          </a:r>
        </a:p>
      </dgm:t>
    </dgm:pt>
    <dgm:pt modelId="{33F287D8-320E-4CD0-B320-0BF082450D98}" type="parTrans" cxnId="{1B09065D-2FA6-4E29-89D3-3FC84AB6BBE3}">
      <dgm:prSet/>
      <dgm:spPr/>
      <dgm:t>
        <a:bodyPr/>
        <a:lstStyle/>
        <a:p>
          <a:endParaRPr lang="es-ES"/>
        </a:p>
      </dgm:t>
    </dgm:pt>
    <dgm:pt modelId="{6C5E26E9-7EFA-4A74-BFA6-0C29A26505CE}" type="sibTrans" cxnId="{1B09065D-2FA6-4E29-89D3-3FC84AB6BBE3}">
      <dgm:prSet/>
      <dgm:spPr/>
      <dgm:t>
        <a:bodyPr/>
        <a:lstStyle/>
        <a:p>
          <a:endParaRPr lang="es-ES"/>
        </a:p>
      </dgm:t>
    </dgm:pt>
    <dgm:pt modelId="{1C30BE7B-FEB9-47F5-91AD-6A2503046939}">
      <dgm:prSet phldrT="[Texto]"/>
      <dgm:spPr/>
      <dgm:t>
        <a:bodyPr/>
        <a:lstStyle/>
        <a:p>
          <a:r>
            <a:rPr lang="es-ES" dirty="0"/>
            <a:t>3. Colaboración</a:t>
          </a:r>
        </a:p>
      </dgm:t>
    </dgm:pt>
    <dgm:pt modelId="{A5F618B1-249D-4775-817E-97057B2F9365}" type="parTrans" cxnId="{480CC781-DCB5-4C1F-B0B4-043FC0AB1ECA}">
      <dgm:prSet/>
      <dgm:spPr/>
      <dgm:t>
        <a:bodyPr/>
        <a:lstStyle/>
        <a:p>
          <a:endParaRPr lang="es-ES"/>
        </a:p>
      </dgm:t>
    </dgm:pt>
    <dgm:pt modelId="{2FF23A0C-62C1-45DD-AE48-2512804BCC21}" type="sibTrans" cxnId="{480CC781-DCB5-4C1F-B0B4-043FC0AB1ECA}">
      <dgm:prSet/>
      <dgm:spPr/>
      <dgm:t>
        <a:bodyPr/>
        <a:lstStyle/>
        <a:p>
          <a:endParaRPr lang="es-ES"/>
        </a:p>
      </dgm:t>
    </dgm:pt>
    <dgm:pt modelId="{537206D6-DFCB-4991-9DBF-C0C30797833D}" type="pres">
      <dgm:prSet presAssocID="{A6229980-CC22-451F-B8F8-72698DF79C12}" presName="diagram" presStyleCnt="0">
        <dgm:presLayoutVars>
          <dgm:dir/>
          <dgm:resizeHandles val="exact"/>
        </dgm:presLayoutVars>
      </dgm:prSet>
      <dgm:spPr/>
    </dgm:pt>
    <dgm:pt modelId="{D9FB1D5F-91E4-4647-98ED-E4EE6017A8DE}" type="pres">
      <dgm:prSet presAssocID="{B0824E80-43F4-46D8-AF19-C9C615ED008D}" presName="node" presStyleLbl="node1" presStyleIdx="0" presStyleCnt="3">
        <dgm:presLayoutVars>
          <dgm:bulletEnabled val="1"/>
        </dgm:presLayoutVars>
      </dgm:prSet>
      <dgm:spPr/>
    </dgm:pt>
    <dgm:pt modelId="{FD1E0C73-E420-45A9-B76C-972B01AB756E}" type="pres">
      <dgm:prSet presAssocID="{6461FAFB-0E87-454F-833E-7B9E3B33FB97}" presName="sibTrans" presStyleCnt="0"/>
      <dgm:spPr/>
    </dgm:pt>
    <dgm:pt modelId="{5D77C904-5BD3-4800-B5B4-73479074154E}" type="pres">
      <dgm:prSet presAssocID="{1FB5BF48-CD40-47E0-B658-65D8C0F22F76}" presName="node" presStyleLbl="node1" presStyleIdx="1" presStyleCnt="3">
        <dgm:presLayoutVars>
          <dgm:bulletEnabled val="1"/>
        </dgm:presLayoutVars>
      </dgm:prSet>
      <dgm:spPr/>
    </dgm:pt>
    <dgm:pt modelId="{6E47E31E-A267-4107-A82C-02E5CB3FD85E}" type="pres">
      <dgm:prSet presAssocID="{6C5E26E9-7EFA-4A74-BFA6-0C29A26505CE}" presName="sibTrans" presStyleCnt="0"/>
      <dgm:spPr/>
    </dgm:pt>
    <dgm:pt modelId="{E1ED9469-9E14-4F81-8D2C-C24FA5238970}" type="pres">
      <dgm:prSet presAssocID="{1C30BE7B-FEB9-47F5-91AD-6A2503046939}" presName="node" presStyleLbl="node1" presStyleIdx="2" presStyleCnt="3">
        <dgm:presLayoutVars>
          <dgm:bulletEnabled val="1"/>
        </dgm:presLayoutVars>
      </dgm:prSet>
      <dgm:spPr/>
    </dgm:pt>
  </dgm:ptLst>
  <dgm:cxnLst>
    <dgm:cxn modelId="{22726104-21F7-4BC1-A935-9122C90973ED}" type="presOf" srcId="{1FB5BF48-CD40-47E0-B658-65D8C0F22F76}" destId="{5D77C904-5BD3-4800-B5B4-73479074154E}" srcOrd="0" destOrd="0" presId="urn:microsoft.com/office/officeart/2005/8/layout/default"/>
    <dgm:cxn modelId="{A3171C1D-1855-4592-8035-B4CC909664EC}" type="presOf" srcId="{A6229980-CC22-451F-B8F8-72698DF79C12}" destId="{537206D6-DFCB-4991-9DBF-C0C30797833D}" srcOrd="0" destOrd="0" presId="urn:microsoft.com/office/officeart/2005/8/layout/default"/>
    <dgm:cxn modelId="{1B09065D-2FA6-4E29-89D3-3FC84AB6BBE3}" srcId="{A6229980-CC22-451F-B8F8-72698DF79C12}" destId="{1FB5BF48-CD40-47E0-B658-65D8C0F22F76}" srcOrd="1" destOrd="0" parTransId="{33F287D8-320E-4CD0-B320-0BF082450D98}" sibTransId="{6C5E26E9-7EFA-4A74-BFA6-0C29A26505CE}"/>
    <dgm:cxn modelId="{6D3E7D78-D4C6-4CEA-88B4-7A3B3ACFE568}" type="presOf" srcId="{B0824E80-43F4-46D8-AF19-C9C615ED008D}" destId="{D9FB1D5F-91E4-4647-98ED-E4EE6017A8DE}" srcOrd="0" destOrd="0" presId="urn:microsoft.com/office/officeart/2005/8/layout/default"/>
    <dgm:cxn modelId="{480CC781-DCB5-4C1F-B0B4-043FC0AB1ECA}" srcId="{A6229980-CC22-451F-B8F8-72698DF79C12}" destId="{1C30BE7B-FEB9-47F5-91AD-6A2503046939}" srcOrd="2" destOrd="0" parTransId="{A5F618B1-249D-4775-817E-97057B2F9365}" sibTransId="{2FF23A0C-62C1-45DD-AE48-2512804BCC21}"/>
    <dgm:cxn modelId="{410301E4-F6F3-4FDE-9C53-401F35213A58}" srcId="{A6229980-CC22-451F-B8F8-72698DF79C12}" destId="{B0824E80-43F4-46D8-AF19-C9C615ED008D}" srcOrd="0" destOrd="0" parTransId="{770075D8-9CCC-40A6-9645-F8BB148A0662}" sibTransId="{6461FAFB-0E87-454F-833E-7B9E3B33FB97}"/>
    <dgm:cxn modelId="{CCFC89F3-05BF-4E46-8F9E-2897BCD354C3}" type="presOf" srcId="{1C30BE7B-FEB9-47F5-91AD-6A2503046939}" destId="{E1ED9469-9E14-4F81-8D2C-C24FA5238970}" srcOrd="0" destOrd="0" presId="urn:microsoft.com/office/officeart/2005/8/layout/default"/>
    <dgm:cxn modelId="{45BE105A-3C91-4476-BB43-1846A36BFCDA}" type="presParOf" srcId="{537206D6-DFCB-4991-9DBF-C0C30797833D}" destId="{D9FB1D5F-91E4-4647-98ED-E4EE6017A8DE}" srcOrd="0" destOrd="0" presId="urn:microsoft.com/office/officeart/2005/8/layout/default"/>
    <dgm:cxn modelId="{B43D42A4-87AD-445A-9535-8D384536BC1A}" type="presParOf" srcId="{537206D6-DFCB-4991-9DBF-C0C30797833D}" destId="{FD1E0C73-E420-45A9-B76C-972B01AB756E}" srcOrd="1" destOrd="0" presId="urn:microsoft.com/office/officeart/2005/8/layout/default"/>
    <dgm:cxn modelId="{6687C20C-6C83-4760-88B3-AA1D60C980AB}" type="presParOf" srcId="{537206D6-DFCB-4991-9DBF-C0C30797833D}" destId="{5D77C904-5BD3-4800-B5B4-73479074154E}" srcOrd="2" destOrd="0" presId="urn:microsoft.com/office/officeart/2005/8/layout/default"/>
    <dgm:cxn modelId="{DBFA5219-694F-417A-A0DE-10E90C6934AE}" type="presParOf" srcId="{537206D6-DFCB-4991-9DBF-C0C30797833D}" destId="{6E47E31E-A267-4107-A82C-02E5CB3FD85E}" srcOrd="3" destOrd="0" presId="urn:microsoft.com/office/officeart/2005/8/layout/default"/>
    <dgm:cxn modelId="{F68B2D75-0F03-46DF-9AC9-C5CF62427371}" type="presParOf" srcId="{537206D6-DFCB-4991-9DBF-C0C30797833D}" destId="{E1ED9469-9E14-4F81-8D2C-C24FA523897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82D6F3-3BDB-4C83-87A3-8C075F598BC9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B5783194-C82B-487E-BBFE-178041342225}">
      <dgm:prSet phldrT="[Texto]" custT="1"/>
      <dgm:spPr/>
      <dgm:t>
        <a:bodyPr/>
        <a:lstStyle/>
        <a:p>
          <a:r>
            <a:rPr lang="es-ES" sz="2400" dirty="0"/>
            <a:t>1. Inicio del Proyecto</a:t>
          </a:r>
        </a:p>
      </dgm:t>
    </dgm:pt>
    <dgm:pt modelId="{1143E6C4-D3ED-4364-9411-D1141522DD12}" type="parTrans" cxnId="{CE4E61BD-73D9-4505-B64A-3E809A3F393C}">
      <dgm:prSet/>
      <dgm:spPr/>
      <dgm:t>
        <a:bodyPr/>
        <a:lstStyle/>
        <a:p>
          <a:endParaRPr lang="es-ES"/>
        </a:p>
      </dgm:t>
    </dgm:pt>
    <dgm:pt modelId="{4ED250AD-2309-4F38-B427-EC46237DD1D1}" type="sibTrans" cxnId="{CE4E61BD-73D9-4505-B64A-3E809A3F393C}">
      <dgm:prSet/>
      <dgm:spPr/>
      <dgm:t>
        <a:bodyPr/>
        <a:lstStyle/>
        <a:p>
          <a:endParaRPr lang="es-ES"/>
        </a:p>
      </dgm:t>
    </dgm:pt>
    <dgm:pt modelId="{53E03A90-CA8C-43FA-B990-6D4C864DDEF2}">
      <dgm:prSet phldrT="[Texto]" custT="1"/>
      <dgm:spPr/>
      <dgm:t>
        <a:bodyPr/>
        <a:lstStyle/>
        <a:p>
          <a:r>
            <a:rPr lang="es-ES" sz="2400" dirty="0"/>
            <a:t>2. Definición del Problema</a:t>
          </a:r>
        </a:p>
      </dgm:t>
    </dgm:pt>
    <dgm:pt modelId="{107C7DE0-FA12-48DE-B0DE-1BE05ECBDDA6}" type="parTrans" cxnId="{9C3FFE9F-3B9F-48E3-8001-23A929D7DB46}">
      <dgm:prSet/>
      <dgm:spPr/>
      <dgm:t>
        <a:bodyPr/>
        <a:lstStyle/>
        <a:p>
          <a:endParaRPr lang="es-ES"/>
        </a:p>
      </dgm:t>
    </dgm:pt>
    <dgm:pt modelId="{8B87B0A6-9455-4A2F-B659-61B8F94A1EDE}" type="sibTrans" cxnId="{9C3FFE9F-3B9F-48E3-8001-23A929D7DB46}">
      <dgm:prSet/>
      <dgm:spPr/>
      <dgm:t>
        <a:bodyPr/>
        <a:lstStyle/>
        <a:p>
          <a:endParaRPr lang="es-ES"/>
        </a:p>
      </dgm:t>
    </dgm:pt>
    <dgm:pt modelId="{E8DC9AFD-9C0F-4594-979A-F787E7F53BEA}">
      <dgm:prSet phldrT="[Texto]" custT="1"/>
      <dgm:spPr/>
      <dgm:t>
        <a:bodyPr/>
        <a:lstStyle/>
        <a:p>
          <a:r>
            <a:rPr lang="es-ES" sz="2400" dirty="0"/>
            <a:t>3. Diseño y Desarrollo de la Solución</a:t>
          </a:r>
        </a:p>
      </dgm:t>
    </dgm:pt>
    <dgm:pt modelId="{9F14C4C5-9C52-4ED0-AF72-09CEDCC9E10C}" type="parTrans" cxnId="{AAAD0BD7-DA78-4B93-BBC7-B8B2E1155F95}">
      <dgm:prSet/>
      <dgm:spPr/>
      <dgm:t>
        <a:bodyPr/>
        <a:lstStyle/>
        <a:p>
          <a:endParaRPr lang="es-ES"/>
        </a:p>
      </dgm:t>
    </dgm:pt>
    <dgm:pt modelId="{7BA5BF55-9404-40EA-818F-3A18D2AED3E8}" type="sibTrans" cxnId="{AAAD0BD7-DA78-4B93-BBC7-B8B2E1155F95}">
      <dgm:prSet/>
      <dgm:spPr/>
      <dgm:t>
        <a:bodyPr/>
        <a:lstStyle/>
        <a:p>
          <a:endParaRPr lang="es-ES"/>
        </a:p>
      </dgm:t>
    </dgm:pt>
    <dgm:pt modelId="{948CCEA6-071E-4A27-8B2D-C99739845E2C}" type="pres">
      <dgm:prSet presAssocID="{0D82D6F3-3BDB-4C83-87A3-8C075F598BC9}" presName="Name0" presStyleCnt="0">
        <dgm:presLayoutVars>
          <dgm:dir/>
          <dgm:resizeHandles val="exact"/>
        </dgm:presLayoutVars>
      </dgm:prSet>
      <dgm:spPr/>
    </dgm:pt>
    <dgm:pt modelId="{8731F69C-1A2C-4BAF-B1DF-4DD04B3FB1E2}" type="pres">
      <dgm:prSet presAssocID="{B5783194-C82B-487E-BBFE-178041342225}" presName="node" presStyleLbl="node1" presStyleIdx="0" presStyleCnt="3">
        <dgm:presLayoutVars>
          <dgm:bulletEnabled val="1"/>
        </dgm:presLayoutVars>
      </dgm:prSet>
      <dgm:spPr/>
    </dgm:pt>
    <dgm:pt modelId="{18EE7A19-A29C-4420-BDC1-2E064A63B6AC}" type="pres">
      <dgm:prSet presAssocID="{4ED250AD-2309-4F38-B427-EC46237DD1D1}" presName="sibTrans" presStyleLbl="sibTrans2D1" presStyleIdx="0" presStyleCnt="2"/>
      <dgm:spPr/>
    </dgm:pt>
    <dgm:pt modelId="{0136085F-11D9-4647-B3E4-11F9A1963EAE}" type="pres">
      <dgm:prSet presAssocID="{4ED250AD-2309-4F38-B427-EC46237DD1D1}" presName="connectorText" presStyleLbl="sibTrans2D1" presStyleIdx="0" presStyleCnt="2"/>
      <dgm:spPr/>
    </dgm:pt>
    <dgm:pt modelId="{04633BEA-BEB3-40E9-9862-EC56A87F0CAA}" type="pres">
      <dgm:prSet presAssocID="{53E03A90-CA8C-43FA-B990-6D4C864DDEF2}" presName="node" presStyleLbl="node1" presStyleIdx="1" presStyleCnt="3">
        <dgm:presLayoutVars>
          <dgm:bulletEnabled val="1"/>
        </dgm:presLayoutVars>
      </dgm:prSet>
      <dgm:spPr/>
    </dgm:pt>
    <dgm:pt modelId="{6E94F226-6ADA-4AA7-92B1-79E8BD48B850}" type="pres">
      <dgm:prSet presAssocID="{8B87B0A6-9455-4A2F-B659-61B8F94A1EDE}" presName="sibTrans" presStyleLbl="sibTrans2D1" presStyleIdx="1" presStyleCnt="2"/>
      <dgm:spPr/>
    </dgm:pt>
    <dgm:pt modelId="{6DD54C98-1F9E-440A-9006-45F665EF86EA}" type="pres">
      <dgm:prSet presAssocID="{8B87B0A6-9455-4A2F-B659-61B8F94A1EDE}" presName="connectorText" presStyleLbl="sibTrans2D1" presStyleIdx="1" presStyleCnt="2"/>
      <dgm:spPr/>
    </dgm:pt>
    <dgm:pt modelId="{E4FC2105-EC16-4B3B-9CDE-8DA07D6E1E9B}" type="pres">
      <dgm:prSet presAssocID="{E8DC9AFD-9C0F-4594-979A-F787E7F53BEA}" presName="node" presStyleLbl="node1" presStyleIdx="2" presStyleCnt="3">
        <dgm:presLayoutVars>
          <dgm:bulletEnabled val="1"/>
        </dgm:presLayoutVars>
      </dgm:prSet>
      <dgm:spPr/>
    </dgm:pt>
  </dgm:ptLst>
  <dgm:cxnLst>
    <dgm:cxn modelId="{AE8A0900-0EF9-4413-A731-90F9223E633F}" type="presOf" srcId="{8B87B0A6-9455-4A2F-B659-61B8F94A1EDE}" destId="{6DD54C98-1F9E-440A-9006-45F665EF86EA}" srcOrd="1" destOrd="0" presId="urn:microsoft.com/office/officeart/2005/8/layout/process1"/>
    <dgm:cxn modelId="{773E3110-5D8C-4E30-9056-3B11A370E188}" type="presOf" srcId="{8B87B0A6-9455-4A2F-B659-61B8F94A1EDE}" destId="{6E94F226-6ADA-4AA7-92B1-79E8BD48B850}" srcOrd="0" destOrd="0" presId="urn:microsoft.com/office/officeart/2005/8/layout/process1"/>
    <dgm:cxn modelId="{CE78461E-FF37-4C3E-9765-2CFD0D2611E0}" type="presOf" srcId="{B5783194-C82B-487E-BBFE-178041342225}" destId="{8731F69C-1A2C-4BAF-B1DF-4DD04B3FB1E2}" srcOrd="0" destOrd="0" presId="urn:microsoft.com/office/officeart/2005/8/layout/process1"/>
    <dgm:cxn modelId="{E643C025-9086-4008-AB0C-6AA57B278E03}" type="presOf" srcId="{4ED250AD-2309-4F38-B427-EC46237DD1D1}" destId="{18EE7A19-A29C-4420-BDC1-2E064A63B6AC}" srcOrd="0" destOrd="0" presId="urn:microsoft.com/office/officeart/2005/8/layout/process1"/>
    <dgm:cxn modelId="{8D524E47-E1FE-4716-9AA7-341D79787697}" type="presOf" srcId="{E8DC9AFD-9C0F-4594-979A-F787E7F53BEA}" destId="{E4FC2105-EC16-4B3B-9CDE-8DA07D6E1E9B}" srcOrd="0" destOrd="0" presId="urn:microsoft.com/office/officeart/2005/8/layout/process1"/>
    <dgm:cxn modelId="{38EB5489-21B8-4F33-9740-0279E6181E0F}" type="presOf" srcId="{0D82D6F3-3BDB-4C83-87A3-8C075F598BC9}" destId="{948CCEA6-071E-4A27-8B2D-C99739845E2C}" srcOrd="0" destOrd="0" presId="urn:microsoft.com/office/officeart/2005/8/layout/process1"/>
    <dgm:cxn modelId="{9C3FFE9F-3B9F-48E3-8001-23A929D7DB46}" srcId="{0D82D6F3-3BDB-4C83-87A3-8C075F598BC9}" destId="{53E03A90-CA8C-43FA-B990-6D4C864DDEF2}" srcOrd="1" destOrd="0" parTransId="{107C7DE0-FA12-48DE-B0DE-1BE05ECBDDA6}" sibTransId="{8B87B0A6-9455-4A2F-B659-61B8F94A1EDE}"/>
    <dgm:cxn modelId="{44CA14A6-E21F-4811-888E-62CA04B599BA}" type="presOf" srcId="{53E03A90-CA8C-43FA-B990-6D4C864DDEF2}" destId="{04633BEA-BEB3-40E9-9862-EC56A87F0CAA}" srcOrd="0" destOrd="0" presId="urn:microsoft.com/office/officeart/2005/8/layout/process1"/>
    <dgm:cxn modelId="{CE4E61BD-73D9-4505-B64A-3E809A3F393C}" srcId="{0D82D6F3-3BDB-4C83-87A3-8C075F598BC9}" destId="{B5783194-C82B-487E-BBFE-178041342225}" srcOrd="0" destOrd="0" parTransId="{1143E6C4-D3ED-4364-9411-D1141522DD12}" sibTransId="{4ED250AD-2309-4F38-B427-EC46237DD1D1}"/>
    <dgm:cxn modelId="{AAAD0BD7-DA78-4B93-BBC7-B8B2E1155F95}" srcId="{0D82D6F3-3BDB-4C83-87A3-8C075F598BC9}" destId="{E8DC9AFD-9C0F-4594-979A-F787E7F53BEA}" srcOrd="2" destOrd="0" parTransId="{9F14C4C5-9C52-4ED0-AF72-09CEDCC9E10C}" sibTransId="{7BA5BF55-9404-40EA-818F-3A18D2AED3E8}"/>
    <dgm:cxn modelId="{9B0A98E7-E067-43ED-B5C4-C76B79D52C61}" type="presOf" srcId="{4ED250AD-2309-4F38-B427-EC46237DD1D1}" destId="{0136085F-11D9-4647-B3E4-11F9A1963EAE}" srcOrd="1" destOrd="0" presId="urn:microsoft.com/office/officeart/2005/8/layout/process1"/>
    <dgm:cxn modelId="{9EA1C65A-5175-4D7E-95F9-7DEF764957E2}" type="presParOf" srcId="{948CCEA6-071E-4A27-8B2D-C99739845E2C}" destId="{8731F69C-1A2C-4BAF-B1DF-4DD04B3FB1E2}" srcOrd="0" destOrd="0" presId="urn:microsoft.com/office/officeart/2005/8/layout/process1"/>
    <dgm:cxn modelId="{8554FB06-E086-434A-A1BA-A9FFF52242CB}" type="presParOf" srcId="{948CCEA6-071E-4A27-8B2D-C99739845E2C}" destId="{18EE7A19-A29C-4420-BDC1-2E064A63B6AC}" srcOrd="1" destOrd="0" presId="urn:microsoft.com/office/officeart/2005/8/layout/process1"/>
    <dgm:cxn modelId="{F611258F-72A4-4B30-B66D-C0CAAE512CE4}" type="presParOf" srcId="{18EE7A19-A29C-4420-BDC1-2E064A63B6AC}" destId="{0136085F-11D9-4647-B3E4-11F9A1963EAE}" srcOrd="0" destOrd="0" presId="urn:microsoft.com/office/officeart/2005/8/layout/process1"/>
    <dgm:cxn modelId="{E9FEF157-0E02-4A17-9418-A9ABC9A77A7B}" type="presParOf" srcId="{948CCEA6-071E-4A27-8B2D-C99739845E2C}" destId="{04633BEA-BEB3-40E9-9862-EC56A87F0CAA}" srcOrd="2" destOrd="0" presId="urn:microsoft.com/office/officeart/2005/8/layout/process1"/>
    <dgm:cxn modelId="{641F94C5-F1A1-4A01-995E-202E864CB255}" type="presParOf" srcId="{948CCEA6-071E-4A27-8B2D-C99739845E2C}" destId="{6E94F226-6ADA-4AA7-92B1-79E8BD48B850}" srcOrd="3" destOrd="0" presId="urn:microsoft.com/office/officeart/2005/8/layout/process1"/>
    <dgm:cxn modelId="{BBC965B8-85B4-4A8B-84BE-80F8153F74F0}" type="presParOf" srcId="{6E94F226-6ADA-4AA7-92B1-79E8BD48B850}" destId="{6DD54C98-1F9E-440A-9006-45F665EF86EA}" srcOrd="0" destOrd="0" presId="urn:microsoft.com/office/officeart/2005/8/layout/process1"/>
    <dgm:cxn modelId="{CECCE455-042E-4521-93D5-04E7ED20C574}" type="presParOf" srcId="{948CCEA6-071E-4A27-8B2D-C99739845E2C}" destId="{E4FC2105-EC16-4B3B-9CDE-8DA07D6E1E9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B1D5F-91E4-4647-98ED-E4EE6017A8DE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1. Respeto</a:t>
          </a:r>
        </a:p>
      </dsp:txBody>
      <dsp:txXfrm>
        <a:off x="1748064" y="2975"/>
        <a:ext cx="3342605" cy="2005563"/>
      </dsp:txXfrm>
    </dsp:sp>
    <dsp:sp modelId="{5D77C904-5BD3-4800-B5B4-73479074154E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2. Compromiso</a:t>
          </a:r>
        </a:p>
      </dsp:txBody>
      <dsp:txXfrm>
        <a:off x="5424930" y="2975"/>
        <a:ext cx="3342605" cy="2005563"/>
      </dsp:txXfrm>
    </dsp:sp>
    <dsp:sp modelId="{E1ED9469-9E14-4F81-8D2C-C24FA5238970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400" kern="1200" dirty="0"/>
            <a:t>3. Colaboración</a:t>
          </a:r>
        </a:p>
      </dsp:txBody>
      <dsp:txXfrm>
        <a:off x="3586497" y="2342799"/>
        <a:ext cx="3342605" cy="2005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31F69C-1A2C-4BAF-B1DF-4DD04B3FB1E2}">
      <dsp:nvSpPr>
        <dsp:cNvPr id="0" name=""/>
        <dsp:cNvSpPr/>
      </dsp:nvSpPr>
      <dsp:spPr>
        <a:xfrm>
          <a:off x="8714" y="586609"/>
          <a:ext cx="2604738" cy="156284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1. Inicio del Proyecto</a:t>
          </a:r>
        </a:p>
      </dsp:txBody>
      <dsp:txXfrm>
        <a:off x="54488" y="632383"/>
        <a:ext cx="2513190" cy="1471294"/>
      </dsp:txXfrm>
    </dsp:sp>
    <dsp:sp modelId="{18EE7A19-A29C-4420-BDC1-2E064A63B6AC}">
      <dsp:nvSpPr>
        <dsp:cNvPr id="0" name=""/>
        <dsp:cNvSpPr/>
      </dsp:nvSpPr>
      <dsp:spPr>
        <a:xfrm>
          <a:off x="2873926" y="1045043"/>
          <a:ext cx="552204" cy="6459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700" kern="1200"/>
        </a:p>
      </dsp:txBody>
      <dsp:txXfrm>
        <a:off x="2873926" y="1174238"/>
        <a:ext cx="386543" cy="387585"/>
      </dsp:txXfrm>
    </dsp:sp>
    <dsp:sp modelId="{04633BEA-BEB3-40E9-9862-EC56A87F0CAA}">
      <dsp:nvSpPr>
        <dsp:cNvPr id="0" name=""/>
        <dsp:cNvSpPr/>
      </dsp:nvSpPr>
      <dsp:spPr>
        <a:xfrm>
          <a:off x="3655347" y="586609"/>
          <a:ext cx="2604738" cy="1562842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2. Definición del Problema</a:t>
          </a:r>
        </a:p>
      </dsp:txBody>
      <dsp:txXfrm>
        <a:off x="3701121" y="632383"/>
        <a:ext cx="2513190" cy="1471294"/>
      </dsp:txXfrm>
    </dsp:sp>
    <dsp:sp modelId="{6E94F226-6ADA-4AA7-92B1-79E8BD48B850}">
      <dsp:nvSpPr>
        <dsp:cNvPr id="0" name=""/>
        <dsp:cNvSpPr/>
      </dsp:nvSpPr>
      <dsp:spPr>
        <a:xfrm>
          <a:off x="6520559" y="1045043"/>
          <a:ext cx="552204" cy="6459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700" kern="1200"/>
        </a:p>
      </dsp:txBody>
      <dsp:txXfrm>
        <a:off x="6520559" y="1174238"/>
        <a:ext cx="386543" cy="387585"/>
      </dsp:txXfrm>
    </dsp:sp>
    <dsp:sp modelId="{E4FC2105-EC16-4B3B-9CDE-8DA07D6E1E9B}">
      <dsp:nvSpPr>
        <dsp:cNvPr id="0" name=""/>
        <dsp:cNvSpPr/>
      </dsp:nvSpPr>
      <dsp:spPr>
        <a:xfrm>
          <a:off x="7301981" y="586609"/>
          <a:ext cx="2604738" cy="1562842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3. Diseño y Desarrollo de la Solución</a:t>
          </a:r>
        </a:p>
      </dsp:txBody>
      <dsp:txXfrm>
        <a:off x="7347755" y="632383"/>
        <a:ext cx="2513190" cy="14712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F594D-7107-4167-B182-6CAE49B9AFF9}" type="datetimeFigureOut">
              <a:rPr lang="en-GB" smtClean="0"/>
              <a:t>31/03/2026</a:t>
            </a:fld>
            <a:endParaRPr lang="en-GB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1DB84-451D-426B-A1DA-27788E09D6FC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590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7" t="21265" r="10732" b="33640"/>
          <a:stretch/>
        </p:blipFill>
        <p:spPr bwMode="auto">
          <a:xfrm>
            <a:off x="0" y="0"/>
            <a:ext cx="122026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930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1950" y="6547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</a:t>
            </a:r>
            <a:endParaRPr lang="es-PE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7" t="21265" r="10732" b="69540"/>
          <a:stretch/>
        </p:blipFill>
        <p:spPr bwMode="auto">
          <a:xfrm>
            <a:off x="0" y="1"/>
            <a:ext cx="12202632" cy="135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39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18" name="Picture 5" descr="C:\Users\ftriveno\Desktop\logo-upc1 (1).png"/>
          <p:cNvPicPr>
            <a:picLocks noChangeAspect="1" noChangeArrowheads="1"/>
          </p:cNvPicPr>
          <p:nvPr userDrawn="1"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119" y="238528"/>
            <a:ext cx="4748336" cy="1187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260"/>
          <a:stretch/>
        </p:blipFill>
        <p:spPr bwMode="auto">
          <a:xfrm>
            <a:off x="-22225" y="-44451"/>
            <a:ext cx="12214225" cy="692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444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39991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3676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884"/>
          <a:stretch/>
        </p:blipFill>
        <p:spPr bwMode="auto">
          <a:xfrm>
            <a:off x="-22225" y="1"/>
            <a:ext cx="12214225" cy="686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30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2689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593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058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0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5974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7745F-F371-4A25-8CEC-C349CD1841E7}" type="datetimeFigureOut">
              <a:rPr lang="es-PE" smtClean="0"/>
              <a:t>31/03/2026</a:t>
            </a:fld>
            <a:endParaRPr lang="es-PE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3AE81-D64F-4A1C-8C8D-239557A3C1D7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88106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daniel.burga@upc.edu.p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mattbotsford?utm_source=unsplash&amp;utm_medium=referral&amp;utm_content=creditCopyText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s/photos/microphone?utm_source=unsplash&amp;utm_medium=referral&amp;utm_content=creditCopyTex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es/@krakenimages?utm_source=unsplash&amp;utm_medium=referral&amp;utm_content=creditCopyText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es/fotos/376KN_ISplE?utm_source=unsplash&amp;utm_medium=referral&amp;utm_content=creditCopyTex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aaronburden?utm_source=unsplash&amp;utm_medium=referral&amp;utm_content=creditCopyText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splash.com/s/photos/writing?utm_source=unsplash&amp;utm_medium=referral&amp;utm_content=creditCopyTex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898679" y="2540645"/>
            <a:ext cx="9943492" cy="105886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s-PE" sz="6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Programa de titulación 2026</a:t>
            </a:r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898679" y="3599508"/>
            <a:ext cx="7871767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s-PE" sz="4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Ciclo 1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898679" y="4284617"/>
            <a:ext cx="8219195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r>
              <a:rPr lang="en-US" dirty="0">
                <a:solidFill>
                  <a:schemeClr val="bg1"/>
                </a:solidFill>
                <a:cs typeface="MS PGothic" charset="0"/>
              </a:rPr>
              <a:t>Daniel Burga</a:t>
            </a:r>
            <a:endParaRPr lang="es-PE" dirty="0">
              <a:solidFill>
                <a:schemeClr val="bg1"/>
              </a:solidFill>
              <a:cs typeface="MS PGothic" charset="0"/>
            </a:endParaRPr>
          </a:p>
        </p:txBody>
      </p:sp>
      <p:sp>
        <p:nvSpPr>
          <p:cNvPr id="7" name="2 Subtítulo"/>
          <p:cNvSpPr txBox="1">
            <a:spLocks/>
          </p:cNvSpPr>
          <p:nvPr/>
        </p:nvSpPr>
        <p:spPr>
          <a:xfrm>
            <a:off x="898679" y="4969726"/>
            <a:ext cx="7871767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  <a:defRPr/>
            </a:pPr>
            <a:endParaRPr lang="es-PE" sz="2400" dirty="0">
              <a:solidFill>
                <a:schemeClr val="bg1"/>
              </a:solidFill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236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4990010" y="1825625"/>
            <a:ext cx="6363789" cy="435133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GB" sz="4000" b="1" dirty="0">
                <a:solidFill>
                  <a:schemeClr val="bg1"/>
                </a:solidFill>
              </a:rPr>
              <a:t>Daniel Burga</a:t>
            </a:r>
          </a:p>
          <a:p>
            <a:r>
              <a:rPr lang="es-PE" dirty="0">
                <a:solidFill>
                  <a:schemeClr val="bg1"/>
                </a:solidFill>
              </a:rPr>
              <a:t>Magister en Gestión de Sistemas de Información UPC–2012</a:t>
            </a:r>
          </a:p>
          <a:p>
            <a:r>
              <a:rPr lang="es-PE" dirty="0">
                <a:solidFill>
                  <a:schemeClr val="bg1"/>
                </a:solidFill>
              </a:rPr>
              <a:t>Ingeniero de Computación y Sistemas UPSMP </a:t>
            </a:r>
          </a:p>
          <a:p>
            <a:r>
              <a:rPr lang="es-PE" dirty="0">
                <a:solidFill>
                  <a:schemeClr val="bg1"/>
                </a:solidFill>
              </a:rPr>
              <a:t>Instructor CCNA, AWS, SCRUM, </a:t>
            </a:r>
            <a:r>
              <a:rPr lang="es-PE">
                <a:solidFill>
                  <a:schemeClr val="bg1"/>
                </a:solidFill>
              </a:rPr>
              <a:t>ITIL +</a:t>
            </a:r>
            <a:r>
              <a:rPr lang="es-PE" dirty="0">
                <a:solidFill>
                  <a:schemeClr val="bg1"/>
                </a:solidFill>
              </a:rPr>
              <a:t>30 años de experiencia</a:t>
            </a:r>
          </a:p>
          <a:p>
            <a:r>
              <a:rPr lang="es-PE" dirty="0">
                <a:solidFill>
                  <a:schemeClr val="bg1"/>
                </a:solidFill>
              </a:rPr>
              <a:t>Proyectos de SI &amp; Actividades de soporte</a:t>
            </a:r>
          </a:p>
          <a:p>
            <a:r>
              <a:rPr lang="es-PE" dirty="0">
                <a:solidFill>
                  <a:schemeClr val="bg1"/>
                </a:solidFill>
              </a:rPr>
              <a:t>+15 años como profesor</a:t>
            </a:r>
          </a:p>
          <a:p>
            <a:r>
              <a:rPr lang="es-PE" dirty="0">
                <a:solidFill>
                  <a:schemeClr val="bg1"/>
                </a:solidFill>
              </a:rPr>
              <a:t>Coordinador de la Carrera de </a:t>
            </a:r>
            <a:r>
              <a:rPr lang="es-PE" dirty="0" err="1">
                <a:solidFill>
                  <a:schemeClr val="bg1"/>
                </a:solidFill>
              </a:rPr>
              <a:t>Ingenieria</a:t>
            </a:r>
            <a:r>
              <a:rPr lang="es-PE" dirty="0">
                <a:solidFill>
                  <a:schemeClr val="bg1"/>
                </a:solidFill>
              </a:rPr>
              <a:t> de Sistemas de Información en UPC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hlinkClick r:id="rId2"/>
              </a:rPr>
              <a:t>daniel.burga@upc.pe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Facilitador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041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Reglas Básicas</a:t>
            </a:r>
          </a:p>
          <a:p>
            <a:r>
              <a:rPr lang="es-PE" dirty="0"/>
              <a:t>Presentaciones</a:t>
            </a:r>
          </a:p>
          <a:p>
            <a:r>
              <a:rPr lang="es-PE" dirty="0"/>
              <a:t>Estructura y metodología</a:t>
            </a:r>
          </a:p>
          <a:p>
            <a:r>
              <a:rPr lang="es-PE" dirty="0"/>
              <a:t>Logro del curso</a:t>
            </a:r>
          </a:p>
          <a:p>
            <a:r>
              <a:rPr lang="es-PE" dirty="0"/>
              <a:t>Contenido</a:t>
            </a:r>
          </a:p>
          <a:p>
            <a:r>
              <a:rPr lang="es-PE" dirty="0"/>
              <a:t>Entregables</a:t>
            </a:r>
          </a:p>
          <a:p>
            <a:r>
              <a:rPr lang="es-PE" dirty="0"/>
              <a:t>Redacción</a:t>
            </a:r>
          </a:p>
          <a:p>
            <a:r>
              <a:rPr lang="es-PE" dirty="0"/>
              <a:t>Enlaces de Interés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Agenda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564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9786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Reglas básicas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32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presentaciones</a:t>
            </a:r>
            <a:endParaRPr lang="en-GB" dirty="0"/>
          </a:p>
        </p:txBody>
      </p:sp>
      <p:sp>
        <p:nvSpPr>
          <p:cNvPr id="5" name="Rectángulo 4"/>
          <p:cNvSpPr/>
          <p:nvPr/>
        </p:nvSpPr>
        <p:spPr>
          <a:xfrm>
            <a:off x="9166926" y="6375461"/>
            <a:ext cx="28741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400" dirty="0"/>
              <a:t>Photo by </a:t>
            </a:r>
            <a:r>
              <a:rPr lang="en-US" sz="1400" dirty="0">
                <a:hlinkClick r:id="rId3"/>
              </a:rPr>
              <a:t>Matt </a:t>
            </a:r>
            <a:r>
              <a:rPr lang="en-US" sz="1400" dirty="0" err="1">
                <a:hlinkClick r:id="rId3"/>
              </a:rPr>
              <a:t>Botsford</a:t>
            </a:r>
            <a:r>
              <a:rPr lang="en-US" sz="1400" dirty="0"/>
              <a:t> on </a:t>
            </a:r>
            <a:r>
              <a:rPr lang="en-US" sz="1400" dirty="0" err="1">
                <a:hlinkClick r:id="rId4"/>
              </a:rPr>
              <a:t>Unsplash</a:t>
            </a:r>
            <a:r>
              <a:rPr lang="en-US" sz="1400" dirty="0"/>
              <a:t> 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980235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estructura</a:t>
            </a:r>
            <a:endParaRPr lang="es-PE" dirty="0"/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1590077166"/>
              </p:ext>
            </p:extLst>
          </p:nvPr>
        </p:nvGraphicFramePr>
        <p:xfrm>
          <a:off x="1138283" y="2097194"/>
          <a:ext cx="9915434" cy="2736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/>
          <p:cNvSpPr txBox="1"/>
          <p:nvPr/>
        </p:nvSpPr>
        <p:spPr>
          <a:xfrm>
            <a:off x="1476103" y="4332402"/>
            <a:ext cx="22200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 Outcomes</a:t>
            </a: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Marco </a:t>
            </a:r>
            <a:r>
              <a:rPr lang="es-PE" dirty="0"/>
              <a:t>Teórico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689493" y="4332402"/>
            <a:ext cx="24644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Diagnóstico (Análisis)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del Proyecto</a:t>
            </a:r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8559345" y="4332402"/>
            <a:ext cx="28130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Arquitectura</a:t>
            </a:r>
            <a:r>
              <a:rPr lang="en-US" dirty="0"/>
              <a:t> </a:t>
            </a:r>
            <a:r>
              <a:rPr lang="es-PE" dirty="0"/>
              <a:t>Empresarial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Desarrollo de la Solución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Resultados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258963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Metodología</a:t>
            </a:r>
            <a:endParaRPr lang="en-GB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728" y="3873141"/>
            <a:ext cx="2514600" cy="19240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47" y="1674828"/>
            <a:ext cx="2886075" cy="19145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80" y="1874852"/>
            <a:ext cx="2971800" cy="1514475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4838700" y="5969955"/>
            <a:ext cx="251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dirty="0"/>
              <a:t>Exposición</a:t>
            </a:r>
          </a:p>
        </p:txBody>
      </p:sp>
      <p:sp>
        <p:nvSpPr>
          <p:cNvPr id="19" name="CuadroTexto 18"/>
          <p:cNvSpPr txBox="1"/>
          <p:nvPr/>
        </p:nvSpPr>
        <p:spPr>
          <a:xfrm>
            <a:off x="7722805" y="3614154"/>
            <a:ext cx="2886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dirty="0"/>
              <a:t>Actividades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700252" y="3727466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dirty="0"/>
              <a:t>Avances</a:t>
            </a:r>
          </a:p>
        </p:txBody>
      </p:sp>
    </p:spTree>
    <p:extLst>
      <p:ext uri="{BB962C8B-B14F-4D97-AF65-F5344CB8AC3E}">
        <p14:creationId xmlns:p14="http://schemas.microsoft.com/office/powerpoint/2010/main" val="328813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838200" y="2371856"/>
            <a:ext cx="6895011" cy="3308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3200" dirty="0"/>
              <a:t>Redactar un informe de trabajo de suficiencia profesional que sintetice una </a:t>
            </a:r>
            <a:r>
              <a:rPr lang="es-PE" sz="3200" b="1" dirty="0"/>
              <a:t>experiencia profesional relevante </a:t>
            </a:r>
            <a:r>
              <a:rPr lang="es-PE" sz="3200" dirty="0"/>
              <a:t>que demuestre el cumplimiento de las </a:t>
            </a:r>
            <a:r>
              <a:rPr lang="es-PE" sz="3200" b="1" dirty="0"/>
              <a:t>competencias profesionales </a:t>
            </a:r>
            <a:r>
              <a:rPr lang="es-PE" sz="3200" dirty="0"/>
              <a:t>de un Ingeniero de Sistemas cumpliendo los lineamientos definidos por la carrera.</a:t>
            </a:r>
            <a:endParaRPr lang="en-GB" sz="32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Logro</a:t>
            </a:r>
            <a:endParaRPr lang="en-GB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175" y="1694997"/>
            <a:ext cx="3008316" cy="466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838200" y="2371856"/>
            <a:ext cx="6895011" cy="229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“Modalidad de titulación que implica que el bachiller está en la capacidad de demostrar y documentar el dominio y la aplicación de competencias profesionales adquiridas a lo largo de la carrera.”</a:t>
            </a:r>
            <a:endParaRPr lang="en-GB" sz="32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Trabajo de suficiencia</a:t>
            </a:r>
            <a:endParaRPr lang="en-GB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686" y="2371856"/>
            <a:ext cx="2947136" cy="2947136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637211" y="501121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s-PE" sz="1400" dirty="0"/>
              <a:t>Fuente: Reglamento RENATI, RCD N° 033-2016-SUNEDU/CD, 4.16.</a:t>
            </a:r>
          </a:p>
        </p:txBody>
      </p:sp>
    </p:spTree>
    <p:extLst>
      <p:ext uri="{BB962C8B-B14F-4D97-AF65-F5344CB8AC3E}">
        <p14:creationId xmlns:p14="http://schemas.microsoft.com/office/powerpoint/2010/main" val="220865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Contenido</a:t>
            </a:r>
            <a:endParaRPr lang="en-GB" dirty="0"/>
          </a:p>
        </p:txBody>
      </p:sp>
      <p:sp>
        <p:nvSpPr>
          <p:cNvPr id="9" name="Rectángulo 8"/>
          <p:cNvSpPr/>
          <p:nvPr/>
        </p:nvSpPr>
        <p:spPr>
          <a:xfrm>
            <a:off x="3866610" y="1619792"/>
            <a:ext cx="2325189" cy="1776548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/>
              <a:t>1.</a:t>
            </a:r>
          </a:p>
          <a:p>
            <a:pPr algn="ctr"/>
            <a:r>
              <a:rPr lang="es-PE" sz="2400" dirty="0"/>
              <a:t>Inicio del Proyecto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8604073" y="1619792"/>
            <a:ext cx="2325189" cy="1776548"/>
          </a:xfrm>
          <a:prstGeom prst="rect">
            <a:avLst/>
          </a:prstGeom>
          <a:solidFill>
            <a:srgbClr val="43BEB9"/>
          </a:solidFill>
          <a:ln>
            <a:solidFill>
              <a:srgbClr val="43BEB9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/>
              <a:t>2.</a:t>
            </a:r>
          </a:p>
          <a:p>
            <a:pPr algn="ctr"/>
            <a:r>
              <a:rPr lang="es-PE" sz="2400" dirty="0"/>
              <a:t>Definición del Problema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8604073" y="4724402"/>
            <a:ext cx="2325189" cy="1776548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dirty="0"/>
              <a:t>3. Diseño y Desarrollo de la Solución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866610" y="4724402"/>
            <a:ext cx="2325189" cy="1776548"/>
          </a:xfrm>
          <a:prstGeom prst="rect">
            <a:avLst/>
          </a:prstGeom>
          <a:solidFill>
            <a:srgbClr val="45B664"/>
          </a:solidFill>
          <a:ln>
            <a:solidFill>
              <a:srgbClr val="45B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4. </a:t>
            </a:r>
          </a:p>
          <a:p>
            <a:pPr algn="ctr"/>
            <a:r>
              <a:rPr lang="es-PE" sz="2400" dirty="0"/>
              <a:t>Asesorías</a:t>
            </a:r>
          </a:p>
          <a:p>
            <a:pPr algn="ctr"/>
            <a:r>
              <a:rPr lang="es-PE" sz="2400" dirty="0"/>
              <a:t>(Ciclo 2)</a:t>
            </a:r>
          </a:p>
        </p:txBody>
      </p:sp>
      <p:sp>
        <p:nvSpPr>
          <p:cNvPr id="13" name="Flecha derecha 12"/>
          <p:cNvSpPr/>
          <p:nvPr/>
        </p:nvSpPr>
        <p:spPr>
          <a:xfrm>
            <a:off x="6374681" y="2266403"/>
            <a:ext cx="2042158" cy="483325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Flecha derecha 13"/>
          <p:cNvSpPr/>
          <p:nvPr/>
        </p:nvSpPr>
        <p:spPr>
          <a:xfrm rot="10800000">
            <a:off x="6374681" y="5371011"/>
            <a:ext cx="2042158" cy="483325"/>
          </a:xfrm>
          <a:prstGeom prst="rightArrow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Flecha derecha 16"/>
          <p:cNvSpPr/>
          <p:nvPr/>
        </p:nvSpPr>
        <p:spPr>
          <a:xfrm rot="5400000">
            <a:off x="9172307" y="3838303"/>
            <a:ext cx="1188720" cy="483325"/>
          </a:xfrm>
          <a:prstGeom prst="rightArrow">
            <a:avLst/>
          </a:prstGeom>
          <a:solidFill>
            <a:srgbClr val="43BEB9"/>
          </a:solidFill>
          <a:ln>
            <a:solidFill>
              <a:srgbClr val="43BE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uadroTexto 17"/>
          <p:cNvSpPr txBox="1"/>
          <p:nvPr/>
        </p:nvSpPr>
        <p:spPr>
          <a:xfrm>
            <a:off x="6374680" y="1691486"/>
            <a:ext cx="1920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15%</a:t>
            </a:r>
            <a:endParaRPr lang="es-PE" dirty="0"/>
          </a:p>
          <a:p>
            <a:pPr algn="ctr"/>
            <a:r>
              <a:rPr lang="es-PE" dirty="0"/>
              <a:t>Tema</a:t>
            </a:r>
          </a:p>
        </p:txBody>
      </p:sp>
      <p:sp>
        <p:nvSpPr>
          <p:cNvPr id="20" name="CuadroTexto 19"/>
          <p:cNvSpPr txBox="1"/>
          <p:nvPr/>
        </p:nvSpPr>
        <p:spPr>
          <a:xfrm>
            <a:off x="10008330" y="3598706"/>
            <a:ext cx="1920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30%</a:t>
            </a:r>
            <a:endParaRPr lang="es-PE" dirty="0"/>
          </a:p>
          <a:p>
            <a:pPr algn="ctr"/>
            <a:r>
              <a:rPr lang="es-PE" dirty="0"/>
              <a:t>Definición del Proyecto</a:t>
            </a:r>
            <a:endParaRPr lang="es-PE" baseline="30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6191800" y="4776932"/>
            <a:ext cx="2407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70%</a:t>
            </a:r>
            <a:endParaRPr lang="es-PE" dirty="0"/>
          </a:p>
          <a:p>
            <a:pPr algn="ctr"/>
            <a:r>
              <a:rPr lang="es-PE" dirty="0"/>
              <a:t>Desarrollo del Proyecto</a:t>
            </a:r>
          </a:p>
        </p:txBody>
      </p:sp>
      <p:sp>
        <p:nvSpPr>
          <p:cNvPr id="16" name="Flecha derecha 15"/>
          <p:cNvSpPr/>
          <p:nvPr/>
        </p:nvSpPr>
        <p:spPr>
          <a:xfrm rot="10800000">
            <a:off x="2987046" y="5371009"/>
            <a:ext cx="692330" cy="483325"/>
          </a:xfrm>
          <a:prstGeom prst="rightArrow">
            <a:avLst/>
          </a:prstGeom>
          <a:solidFill>
            <a:srgbClr val="45B664"/>
          </a:solidFill>
          <a:ln>
            <a:solidFill>
              <a:srgbClr val="45B6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37" y="4993272"/>
            <a:ext cx="1238797" cy="1238797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508097" y="2295310"/>
            <a:ext cx="222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/>
              <a:t>Experiencia Profesional</a:t>
            </a:r>
            <a:endParaRPr lang="es-PE" sz="1600" dirty="0"/>
          </a:p>
        </p:txBody>
      </p:sp>
      <p:sp>
        <p:nvSpPr>
          <p:cNvPr id="23" name="Flecha derecha 22"/>
          <p:cNvSpPr/>
          <p:nvPr/>
        </p:nvSpPr>
        <p:spPr>
          <a:xfrm>
            <a:off x="2987045" y="2266402"/>
            <a:ext cx="692331" cy="483325"/>
          </a:xfrm>
          <a:prstGeom prst="rightArrow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1375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1. Inicio del Proyecto</a:t>
            </a:r>
            <a:endParaRPr lang="es-PE" dirty="0"/>
          </a:p>
        </p:txBody>
      </p:sp>
      <p:sp>
        <p:nvSpPr>
          <p:cNvPr id="15" name="Marcador de contenido 1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9049"/>
          </a:xfrm>
        </p:spPr>
        <p:txBody>
          <a:bodyPr>
            <a:noAutofit/>
          </a:bodyPr>
          <a:lstStyle/>
          <a:p>
            <a:r>
              <a:rPr lang="es-PE" sz="2000" b="1" dirty="0"/>
              <a:t>CAPÍTULO 1: DEFINICIÓN DEL PROYECTO</a:t>
            </a:r>
          </a:p>
          <a:p>
            <a:pPr lvl="1"/>
            <a:r>
              <a:rPr lang="es-PE" sz="2000" dirty="0"/>
              <a:t>ANTECEDENTES</a:t>
            </a:r>
          </a:p>
          <a:p>
            <a:pPr lvl="1"/>
            <a:r>
              <a:rPr lang="es-PE" sz="2000" dirty="0"/>
              <a:t>DESCRIPCIÓN DE LA ORGANIZACIÓN</a:t>
            </a:r>
          </a:p>
          <a:p>
            <a:pPr lvl="1"/>
            <a:r>
              <a:rPr lang="es-PE" sz="2000" dirty="0"/>
              <a:t>ANÁLISIS DEL PROBLEMA</a:t>
            </a:r>
          </a:p>
          <a:p>
            <a:pPr lvl="1"/>
            <a:r>
              <a:rPr lang="es-PE" sz="2000" dirty="0"/>
              <a:t>OBJETIVOS</a:t>
            </a:r>
          </a:p>
          <a:p>
            <a:pPr lvl="2"/>
            <a:r>
              <a:rPr lang="es-PE" dirty="0"/>
              <a:t>General</a:t>
            </a:r>
          </a:p>
          <a:p>
            <a:pPr lvl="2"/>
            <a:r>
              <a:rPr lang="es-PE" dirty="0"/>
              <a:t>Específicos</a:t>
            </a:r>
          </a:p>
          <a:p>
            <a:pPr lvl="1"/>
            <a:r>
              <a:rPr lang="es-PE" sz="2000" dirty="0"/>
              <a:t>INDICADORES DE ÉXITO</a:t>
            </a:r>
          </a:p>
          <a:p>
            <a:r>
              <a:rPr lang="es-PE" sz="2000" b="1" dirty="0"/>
              <a:t>CAPÍTULO 2: MARCO TEÓRICO</a:t>
            </a:r>
          </a:p>
          <a:p>
            <a:pPr lvl="1"/>
            <a:r>
              <a:rPr lang="es-PE" sz="2000" dirty="0"/>
              <a:t>RELACIONADO A LA INDUSTRIA Y PROCESOS DE NEGOCIO</a:t>
            </a:r>
          </a:p>
          <a:p>
            <a:pPr lvl="1"/>
            <a:r>
              <a:rPr lang="es-PE" sz="2000" dirty="0"/>
              <a:t>RELACIONADO A LA INGENIERÍA DE SISTEMAS</a:t>
            </a:r>
          </a:p>
          <a:p>
            <a:pPr lvl="1"/>
            <a:r>
              <a:rPr lang="es-PE" sz="2000" dirty="0"/>
              <a:t>CUMPLIMIENTO NORMATIVO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4017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3. </a:t>
            </a:r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Diseño y Desarrollo de la Solución</a:t>
            </a:r>
          </a:p>
        </p:txBody>
      </p:sp>
      <p:sp>
        <p:nvSpPr>
          <p:cNvPr id="4" name="Marcador de contenido 1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2000" b="1" dirty="0"/>
              <a:t>CAPÍTULO 3: DESARROLLO DEL PROYECTO Y VALIDACION</a:t>
            </a:r>
          </a:p>
          <a:p>
            <a:pPr lvl="1"/>
            <a:r>
              <a:rPr lang="es-PE" sz="2000" dirty="0"/>
              <a:t>DISEÑO DE LA SOLUCIÓN	</a:t>
            </a:r>
          </a:p>
          <a:p>
            <a:pPr lvl="2"/>
            <a:r>
              <a:rPr lang="es-PE" dirty="0"/>
              <a:t>Arquitectura de Negocio</a:t>
            </a:r>
          </a:p>
          <a:p>
            <a:pPr lvl="2"/>
            <a:r>
              <a:rPr lang="es-PE" dirty="0"/>
              <a:t>Arquitectura de Datos</a:t>
            </a:r>
          </a:p>
          <a:p>
            <a:pPr lvl="2"/>
            <a:r>
              <a:rPr lang="es-PE" dirty="0"/>
              <a:t>Arquitectura de Aplicaciones</a:t>
            </a:r>
          </a:p>
          <a:p>
            <a:pPr lvl="2"/>
            <a:r>
              <a:rPr lang="es-PE" dirty="0"/>
              <a:t>Arquitectura Tecnológica</a:t>
            </a:r>
          </a:p>
          <a:p>
            <a:pPr lvl="2"/>
            <a:r>
              <a:rPr lang="es-PE" dirty="0"/>
              <a:t>Arquitectura Integrada</a:t>
            </a:r>
          </a:p>
          <a:p>
            <a:pPr lvl="1"/>
            <a:r>
              <a:rPr lang="es-PE" sz="2000" dirty="0"/>
              <a:t>DESARROLLO DE LA SOLUCIÓN</a:t>
            </a:r>
          </a:p>
          <a:p>
            <a:pPr lvl="1"/>
            <a:r>
              <a:rPr lang="es-PE" sz="2000" dirty="0"/>
              <a:t>GESTIÓN DEL PROYECTO</a:t>
            </a:r>
          </a:p>
          <a:p>
            <a:pPr lvl="1"/>
            <a:r>
              <a:rPr lang="es-PE" sz="2000" dirty="0"/>
              <a:t>RESULTADO DEL PROYECTO</a:t>
            </a:r>
          </a:p>
          <a:p>
            <a:r>
              <a:rPr lang="es-PE" sz="2000" b="1" dirty="0"/>
              <a:t>CAPÍTULO 4: PLAN DE CONTINUIDAD</a:t>
            </a:r>
            <a:endParaRPr lang="en-US" sz="2000" b="1" dirty="0"/>
          </a:p>
          <a:p>
            <a:r>
              <a:rPr lang="en-US" sz="2000" b="1" dirty="0"/>
              <a:t>CONCLUSIONES Y RECOMENDACIONES</a:t>
            </a:r>
            <a:endParaRPr lang="es-PE" sz="2000" b="1" dirty="0"/>
          </a:p>
        </p:txBody>
      </p:sp>
    </p:spTree>
    <p:extLst>
      <p:ext uri="{BB962C8B-B14F-4D97-AF65-F5344CB8AC3E}">
        <p14:creationId xmlns:p14="http://schemas.microsoft.com/office/powerpoint/2010/main" val="3658064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4</a:t>
            </a:r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. Asesorías (Ciclo 2)</a:t>
            </a:r>
            <a:endParaRPr lang="es-PE" dirty="0"/>
          </a:p>
        </p:txBody>
      </p:sp>
      <p:sp>
        <p:nvSpPr>
          <p:cNvPr id="8" name="Rectángulo 7"/>
          <p:cNvSpPr/>
          <p:nvPr/>
        </p:nvSpPr>
        <p:spPr>
          <a:xfrm>
            <a:off x="8707007" y="6379419"/>
            <a:ext cx="3484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Foto de </a:t>
            </a:r>
            <a:r>
              <a:rPr lang="nl-NL" dirty="0">
                <a:hlinkClick r:id="rId3"/>
              </a:rPr>
              <a:t>krakenimages</a:t>
            </a:r>
            <a:r>
              <a:rPr lang="nl-NL" dirty="0"/>
              <a:t> en </a:t>
            </a:r>
            <a:r>
              <a:rPr lang="nl-NL" dirty="0">
                <a:hlinkClick r:id="rId4"/>
              </a:rPr>
              <a:t>Unsplash</a:t>
            </a:r>
            <a:r>
              <a:rPr lang="nl-NL" dirty="0"/>
              <a:t>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84612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redacción</a:t>
            </a:r>
            <a:endParaRPr lang="es-PE" dirty="0"/>
          </a:p>
        </p:txBody>
      </p:sp>
      <p:sp>
        <p:nvSpPr>
          <p:cNvPr id="4" name="Rectángulo 3"/>
          <p:cNvSpPr/>
          <p:nvPr/>
        </p:nvSpPr>
        <p:spPr>
          <a:xfrm>
            <a:off x="8559915" y="6375461"/>
            <a:ext cx="3632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Photo by </a:t>
            </a:r>
            <a:r>
              <a:rPr lang="en-US" sz="1400" dirty="0">
                <a:hlinkClick r:id="rId3"/>
              </a:rPr>
              <a:t>Aaron</a:t>
            </a:r>
            <a:r>
              <a:rPr lang="en-US" dirty="0">
                <a:hlinkClick r:id="rId3"/>
              </a:rPr>
              <a:t> Burden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  <a:endParaRPr lang="es-PE" dirty="0"/>
          </a:p>
        </p:txBody>
      </p:sp>
      <p:sp>
        <p:nvSpPr>
          <p:cNvPr id="2" name="Rectángulo 1"/>
          <p:cNvSpPr/>
          <p:nvPr/>
        </p:nvSpPr>
        <p:spPr>
          <a:xfrm>
            <a:off x="1286692" y="3334715"/>
            <a:ext cx="9618616" cy="1938992"/>
          </a:xfrm>
          <a:prstGeom prst="rect">
            <a:avLst/>
          </a:prstGeom>
          <a:solidFill>
            <a:srgbClr val="352F1D">
              <a:alpha val="85000"/>
            </a:srgb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Redactar en forma explícita, clara, precisa, sin ambigüedades.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Redactar con coherencia y orden.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Evite redundar, y si es necesario proponga ejemplos para esclarecer lo que se desea decir.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400" dirty="0">
                <a:solidFill>
                  <a:schemeClr val="bg1"/>
                </a:solidFill>
              </a:rPr>
              <a:t>Todo gráfico, tabla o anexo debe estar referenciada en el texto.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188720" y="2051701"/>
            <a:ext cx="23478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COR</a:t>
            </a:r>
            <a:r>
              <a:rPr lang="en-US" sz="6000" b="1" u="sng" dirty="0">
                <a:solidFill>
                  <a:schemeClr val="bg1"/>
                </a:solidFill>
              </a:rPr>
              <a:t>RE</a:t>
            </a:r>
            <a:endParaRPr lang="es-PE" sz="6000" b="1" u="sng" dirty="0">
              <a:solidFill>
                <a:schemeClr val="bg1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2220074" y="191516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X</a:t>
            </a:r>
            <a:endParaRPr lang="es-PE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64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>
                <a:solidFill>
                  <a:prstClr val="white"/>
                </a:solidFill>
                <a:latin typeface="Solano Gothic MVB Std Cap" pitchFamily="50" charset="0"/>
                <a:ea typeface="MS PGothic" pitchFamily="34" charset="-128"/>
                <a:cs typeface="Arial" pitchFamily="34" charset="0"/>
              </a:rPr>
              <a:t>Documento</a:t>
            </a:r>
            <a:endParaRPr lang="es-PE" dirty="0"/>
          </a:p>
        </p:txBody>
      </p:sp>
      <p:sp>
        <p:nvSpPr>
          <p:cNvPr id="15" name="Marcador de contenido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s-PE" sz="2000" b="1" dirty="0"/>
              <a:t>CAPÍTULO 1: DEFINICIÓN DEL PROYECTO </a:t>
            </a:r>
          </a:p>
          <a:p>
            <a:r>
              <a:rPr lang="es-PE" sz="2000" b="1" dirty="0"/>
              <a:t>CAPÍTULO 2: MARCO TEÓRICO </a:t>
            </a:r>
          </a:p>
          <a:p>
            <a:r>
              <a:rPr lang="es-PE" sz="2000" b="1" dirty="0"/>
              <a:t>CAPÍTULO 3: DESARROLLO DEL PROYECTO</a:t>
            </a:r>
          </a:p>
          <a:p>
            <a:r>
              <a:rPr lang="es-PE" sz="2000" b="1" dirty="0"/>
              <a:t> CAPÍTULO 4: PLAN DE CONTINUIDAD</a:t>
            </a:r>
          </a:p>
          <a:p>
            <a:r>
              <a:rPr lang="en-US" sz="2000" b="1" dirty="0"/>
              <a:t>CONCLUSIONES Y RECOMENDACIONES</a:t>
            </a:r>
            <a:endParaRPr lang="es-PE" sz="24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1057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940242" y="2435726"/>
            <a:ext cx="10531321" cy="68510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s-PE" sz="4000" dirty="0">
                <a:solidFill>
                  <a:schemeClr val="bg1"/>
                </a:solidFill>
                <a:latin typeface="Solano Gothic MVB Std Cap" panose="02000506030000020004" pitchFamily="50" charset="0"/>
                <a:cs typeface="MS PGothic" charset="0"/>
              </a:rPr>
              <a:t>¿preguntas?</a:t>
            </a:r>
          </a:p>
        </p:txBody>
      </p:sp>
      <p:sp>
        <p:nvSpPr>
          <p:cNvPr id="6" name="2 Subtítulo"/>
          <p:cNvSpPr txBox="1">
            <a:spLocks/>
          </p:cNvSpPr>
          <p:nvPr/>
        </p:nvSpPr>
        <p:spPr>
          <a:xfrm>
            <a:off x="2547369" y="3162400"/>
            <a:ext cx="7317066" cy="124334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s-PE" dirty="0">
                <a:solidFill>
                  <a:schemeClr val="bg1"/>
                </a:solidFill>
                <a:cs typeface="MS PGothic" charset="0"/>
              </a:rPr>
              <a:t>Ud. Puede escribir </a:t>
            </a:r>
            <a:r>
              <a:rPr lang="en-US" dirty="0">
                <a:solidFill>
                  <a:schemeClr val="bg1"/>
                </a:solidFill>
                <a:cs typeface="MS PGothic" charset="0"/>
              </a:rPr>
              <a:t>a:</a:t>
            </a: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dirty="0">
                <a:solidFill>
                  <a:schemeClr val="bg1"/>
                </a:solidFill>
                <a:cs typeface="MS PGothic" charset="0"/>
              </a:rPr>
              <a:t>daniel.burga@upc.pe</a:t>
            </a:r>
            <a:endParaRPr lang="es-PE" dirty="0">
              <a:solidFill>
                <a:schemeClr val="bg1"/>
              </a:solidFill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6816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e544a57-aecb-4bf9-828a-5b520732b110}" enabled="0" method="" siteId="{ae544a57-aecb-4bf9-828a-5b520732b1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54451</TotalTime>
  <Words>488</Words>
  <Application>Microsoft Office PowerPoint</Application>
  <PresentationFormat>Panorámica</PresentationFormat>
  <Paragraphs>109</Paragraphs>
  <Slides>16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MS PGothic</vt:lpstr>
      <vt:lpstr>Arial</vt:lpstr>
      <vt:lpstr>Calibri</vt:lpstr>
      <vt:lpstr>Calibri Light</vt:lpstr>
      <vt:lpstr>Solano Gothic MVB Std Cap</vt:lpstr>
      <vt:lpstr>Tema de Office</vt:lpstr>
      <vt:lpstr>Presentación de PowerPoint</vt:lpstr>
      <vt:lpstr>Facilitador</vt:lpstr>
      <vt:lpstr>Agenda</vt:lpstr>
      <vt:lpstr>Reglas básicas</vt:lpstr>
      <vt:lpstr>presentaciones</vt:lpstr>
      <vt:lpstr>estructura</vt:lpstr>
      <vt:lpstr>Metodología</vt:lpstr>
      <vt:lpstr>Logro</vt:lpstr>
      <vt:lpstr>Trabajo de suficiencia</vt:lpstr>
      <vt:lpstr>Contenido</vt:lpstr>
      <vt:lpstr>1. Inicio del Proyecto</vt:lpstr>
      <vt:lpstr>3. Diseño y Desarrollo de la Solución</vt:lpstr>
      <vt:lpstr>4. Asesorías (Ciclo 2)</vt:lpstr>
      <vt:lpstr>redacción</vt:lpstr>
      <vt:lpstr>Documento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Fiorela Triveño Rodriguez</dc:creator>
  <cp:lastModifiedBy>Daniel Wilfredo W. Burga Durango</cp:lastModifiedBy>
  <cp:revision>661</cp:revision>
  <dcterms:created xsi:type="dcterms:W3CDTF">2018-01-03T14:33:56Z</dcterms:created>
  <dcterms:modified xsi:type="dcterms:W3CDTF">2026-04-01T01:21:50Z</dcterms:modified>
</cp:coreProperties>
</file>