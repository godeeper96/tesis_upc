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89" r:id="rId6"/>
    <p:sldId id="464" r:id="rId7"/>
    <p:sldId id="396" r:id="rId8"/>
    <p:sldId id="288" r:id="rId9"/>
    <p:sldId id="809" r:id="rId10"/>
    <p:sldId id="810" r:id="rId11"/>
    <p:sldId id="272" r:id="rId12"/>
    <p:sldId id="285" r:id="rId13"/>
    <p:sldId id="308" r:id="rId14"/>
    <p:sldId id="424" r:id="rId15"/>
    <p:sldId id="440" r:id="rId16"/>
    <p:sldId id="307" r:id="rId17"/>
    <p:sldId id="465" r:id="rId18"/>
    <p:sldId id="466" r:id="rId19"/>
    <p:sldId id="467" r:id="rId20"/>
    <p:sldId id="468" r:id="rId21"/>
    <p:sldId id="470" r:id="rId22"/>
    <p:sldId id="469" r:id="rId23"/>
    <p:sldId id="436" r:id="rId24"/>
    <p:sldId id="408" r:id="rId25"/>
    <p:sldId id="412" r:id="rId26"/>
    <p:sldId id="334" r:id="rId27"/>
    <p:sldId id="400" r:id="rId28"/>
    <p:sldId id="401" r:id="rId29"/>
    <p:sldId id="402" r:id="rId30"/>
    <p:sldId id="403" r:id="rId31"/>
    <p:sldId id="404" r:id="rId3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712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ilfredo W. Burga Durango" userId="c4522bba-e5db-452a-80b9-d219d2a6fe0a" providerId="ADAL" clId="{5C9E5918-1C3B-4935-9428-3E50EFD36434}"/>
    <pc:docChg chg="modSld">
      <pc:chgData name="Daniel Wilfredo W. Burga Durango" userId="c4522bba-e5db-452a-80b9-d219d2a6fe0a" providerId="ADAL" clId="{5C9E5918-1C3B-4935-9428-3E50EFD36434}" dt="2026-03-31T23:43:54.044" v="3" actId="20577"/>
      <pc:docMkLst>
        <pc:docMk/>
      </pc:docMkLst>
      <pc:sldChg chg="modSp mod">
        <pc:chgData name="Daniel Wilfredo W. Burga Durango" userId="c4522bba-e5db-452a-80b9-d219d2a6fe0a" providerId="ADAL" clId="{5C9E5918-1C3B-4935-9428-3E50EFD36434}" dt="2026-03-31T23:43:54.044" v="3" actId="20577"/>
        <pc:sldMkLst>
          <pc:docMk/>
          <pc:sldMk cId="1956631383" sldId="256"/>
        </pc:sldMkLst>
        <pc:spChg chg="mod">
          <ac:chgData name="Daniel Wilfredo W. Burga Durango" userId="c4522bba-e5db-452a-80b9-d219d2a6fe0a" providerId="ADAL" clId="{5C9E5918-1C3B-4935-9428-3E50EFD36434}" dt="2026-03-31T23:43:54.044" v="3" actId="20577"/>
          <ac:spMkLst>
            <pc:docMk/>
            <pc:sldMk cId="1956631383" sldId="256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nn\Downloads\Formulario%20-%20Reserva%20de%20citas%20m&#233;dicas(1-20)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nn\Downloads\Formulario%20-%20Reserva%20de%20citas%20m&#233;dicas(1-20)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nn\Downloads\Formulario%20-%20Reserva%20de%20citas%20m&#233;dicas(1-20)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[Formulario - Reserva de citas médicas(1-20) (1).xlsx]Facilidad de Uso!TablaDinámica3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PE"/>
              <a:t>Usabilidad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8.8538156698322358E-3"/>
              <c:y val="-0.1311977107685835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98EA38B9-C234-437F-8FF8-EDABF4805426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2.9376295552085565E-2"/>
              <c:y val="-1.90115856083141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D6CDF474-89EC-42F1-A649-D61845DD5C9C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175726010960243E-2"/>
              <c:y val="-3.986791179351018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A982CE0A-9582-475E-B537-4B7D346F99D1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244052249088045E-2"/>
              <c:y val="-0.407529290735099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CAEB6D48-A8A9-459F-B5C1-A12801210342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2.9376295552085565E-2"/>
              <c:y val="-1.90115856083141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D6CDF474-89EC-42F1-A649-D61845DD5C9C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175726010960243E-2"/>
              <c:y val="-3.986791179351018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A982CE0A-9582-475E-B537-4B7D346F99D1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244052249088045E-2"/>
              <c:y val="-0.407529290735099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CAEB6D48-A8A9-459F-B5C1-A12801210342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8.8538156698322358E-3"/>
              <c:y val="-0.1311977107685835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98EA38B9-C234-437F-8FF8-EDABF4805426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2.9376295552085565E-2"/>
              <c:y val="-1.90115856083141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D6CDF474-89EC-42F1-A649-D61845DD5C9C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175726010960243E-2"/>
              <c:y val="-3.986791179351018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A982CE0A-9582-475E-B537-4B7D346F99D1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7244052249088045E-2"/>
              <c:y val="-0.407529290735099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CAEB6D48-A8A9-459F-B5C1-A12801210342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8.8538156698322358E-3"/>
              <c:y val="-0.1311977107685835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 </a:t>
                </a:r>
                <a:fld id="{98EA38B9-C234-437F-8FF8-EDABF4805426}" type="PERCENTAGE">
                  <a:rPr lang="en-US" baseline="0"/>
                  <a:pPr>
                    <a:defRPr sz="10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[PORCENTAJE]</a:t>
                </a:fld>
                <a:endParaRPr lang="en-US" baseline="0"/>
              </a:p>
            </c:rich>
          </c:tx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'Facilidad de Uso'!$B$3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ED40-4ADF-8172-41854B262147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ED40-4ADF-8172-41854B262147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ED40-4ADF-8172-41854B262147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ED40-4ADF-8172-41854B26214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D6CDF474-89EC-42F1-A649-D61845DD5C9C}" type="PERCENTAGE">
                      <a:rPr lang="en-US" baseline="0"/>
                      <a:pPr/>
                      <a:t>[PORCENTAJE]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D40-4ADF-8172-41854B2621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A982CE0A-9582-475E-B537-4B7D346F99D1}" type="PERCENTAGE">
                      <a:rPr lang="en-US" baseline="0"/>
                      <a:pPr/>
                      <a:t>[PORCENTAJE]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D40-4ADF-8172-41854B2621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CAEB6D48-A8A9-459F-B5C1-A12801210342}" type="PERCENTAGE">
                      <a:rPr lang="en-US" baseline="0"/>
                      <a:pPr/>
                      <a:t>[PORCENTAJE]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D40-4ADF-8172-41854B2621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98EA38B9-C234-437F-8FF8-EDABF4805426}" type="PERCENTAGE">
                      <a:rPr lang="en-US" baseline="0"/>
                      <a:pPr/>
                      <a:t>[PORCENTAJE]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D40-4ADF-8172-41854B262147}"/>
                </c:ext>
              </c:extLst>
            </c:dLbl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'Facilidad de Uso'!$A$4:$A$7</c:f>
              <c:strCache>
                <c:ptCount val="4"/>
                <c:pt idx="0">
                  <c:v>Insatisfecho</c:v>
                </c:pt>
                <c:pt idx="1">
                  <c:v>Muy insatisfecho</c:v>
                </c:pt>
                <c:pt idx="2">
                  <c:v>Muy satisfecho</c:v>
                </c:pt>
                <c:pt idx="3">
                  <c:v>Satisfecho</c:v>
                </c:pt>
              </c:strCache>
            </c:strRef>
          </c:cat>
          <c:val>
            <c:numRef>
              <c:f>'Facilidad de Uso'!$B$4:$B$7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40-4ADF-8172-41854B26214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[Formulario - Reserva de citas médicas(1-20) (1).xlsx]Apariencia!TablaDinámica6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PE"/>
              <a:t>Interfaz</a:t>
            </a:r>
            <a:r>
              <a:rPr lang="es-PE" baseline="0"/>
              <a:t> de usuario</a:t>
            </a:r>
            <a:endParaRPr lang="es-P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Apariencia!$B$3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8E6C-4325-AC4A-69FEEAB8186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E6C-4325-AC4A-69FEEAB8186D}"/>
              </c:ext>
            </c:extLst>
          </c:dPt>
          <c:dPt>
            <c:idx val="2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8E6C-4325-AC4A-69FEEAB8186D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Apariencia!$A$4:$A$6</c:f>
              <c:strCache>
                <c:ptCount val="3"/>
                <c:pt idx="0">
                  <c:v>Muy insatisfecho</c:v>
                </c:pt>
                <c:pt idx="1">
                  <c:v>Muy satisfecho</c:v>
                </c:pt>
                <c:pt idx="2">
                  <c:v>Satisfecho</c:v>
                </c:pt>
              </c:strCache>
            </c:strRef>
          </c:cat>
          <c:val>
            <c:numRef>
              <c:f>Apariencia!$B$4:$B$6</c:f>
              <c:numCache>
                <c:formatCode>General</c:formatCode>
                <c:ptCount val="3"/>
                <c:pt idx="0">
                  <c:v>1</c:v>
                </c:pt>
                <c:pt idx="1">
                  <c:v>11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6C-4325-AC4A-69FEEAB8186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t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[Formulario - Reserva de citas médicas(1-20) (1).xlsx]Rapidez!TablaDinámica9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PE"/>
              <a:t>Eficiencia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s-PE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4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Rapidez!$B$3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D6F4-48EA-9ED5-7BE511FDE48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D6F4-48EA-9ED5-7BE511FDE488}"/>
              </c:ext>
            </c:extLst>
          </c:dPt>
          <c:dPt>
            <c:idx val="2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D6F4-48EA-9ED5-7BE511FDE488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Rapidez!$A$4:$A$6</c:f>
              <c:strCache>
                <c:ptCount val="3"/>
                <c:pt idx="0">
                  <c:v>Muy insatisfecho</c:v>
                </c:pt>
                <c:pt idx="1">
                  <c:v>Muy satisfecho</c:v>
                </c:pt>
                <c:pt idx="2">
                  <c:v>Satisfecho</c:v>
                </c:pt>
              </c:strCache>
            </c:strRef>
          </c:cat>
          <c:val>
            <c:numRef>
              <c:f>Rapidez!$B$4:$B$6</c:f>
              <c:numCache>
                <c:formatCode>General</c:formatCode>
                <c:ptCount val="3"/>
                <c:pt idx="0">
                  <c:v>1</c:v>
                </c:pt>
                <c:pt idx="1">
                  <c:v>11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F4-48EA-9ED5-7BE511FDE48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27AF42-4374-4954-804B-CA84E1EACEA7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PE"/>
        </a:p>
      </dgm:t>
    </dgm:pt>
    <dgm:pt modelId="{6B66C9A6-4A16-4BAD-92E8-265A4B01BF47}">
      <dgm:prSet phldrT="[Texto]" custT="1"/>
      <dgm:spPr/>
      <dgm:t>
        <a:bodyPr/>
        <a:lstStyle/>
        <a:p>
          <a:r>
            <a:rPr lang="es-PE" sz="1400"/>
            <a:t>Planificación</a:t>
          </a:r>
        </a:p>
      </dgm:t>
    </dgm:pt>
    <dgm:pt modelId="{4A5503B8-F820-480E-9917-71ECDB1FB371}" type="parTrans" cxnId="{AC16CA0A-342F-41DD-9E69-4DE2542AE06C}">
      <dgm:prSet/>
      <dgm:spPr/>
      <dgm:t>
        <a:bodyPr/>
        <a:lstStyle/>
        <a:p>
          <a:endParaRPr lang="es-PE"/>
        </a:p>
      </dgm:t>
    </dgm:pt>
    <dgm:pt modelId="{895F4D6A-B27B-43B4-A3C6-5FA0A4A7EC26}" type="sibTrans" cxnId="{AC16CA0A-342F-41DD-9E69-4DE2542AE06C}">
      <dgm:prSet/>
      <dgm:spPr/>
      <dgm:t>
        <a:bodyPr/>
        <a:lstStyle/>
        <a:p>
          <a:endParaRPr lang="es-PE"/>
        </a:p>
      </dgm:t>
    </dgm:pt>
    <dgm:pt modelId="{5C26F4A3-B4BF-46AD-AA68-F1FA73CF38CC}">
      <dgm:prSet phldrT="[Texto]" custT="1"/>
      <dgm:spPr/>
      <dgm:t>
        <a:bodyPr/>
        <a:lstStyle/>
        <a:p>
          <a:pPr algn="ctr"/>
          <a:r>
            <a:rPr lang="es-PE" sz="1400"/>
            <a:t>Implementación</a:t>
          </a:r>
        </a:p>
      </dgm:t>
    </dgm:pt>
    <dgm:pt modelId="{F55A1B2A-B192-4FEF-A663-E4AD3055FD4F}" type="parTrans" cxnId="{0F717735-1D69-44BA-B57E-DDCBDCB8674A}">
      <dgm:prSet/>
      <dgm:spPr/>
      <dgm:t>
        <a:bodyPr/>
        <a:lstStyle/>
        <a:p>
          <a:endParaRPr lang="es-PE"/>
        </a:p>
      </dgm:t>
    </dgm:pt>
    <dgm:pt modelId="{B5BC0993-BF05-4E68-98E5-275BB682FF4E}" type="sibTrans" cxnId="{0F717735-1D69-44BA-B57E-DDCBDCB8674A}">
      <dgm:prSet/>
      <dgm:spPr/>
      <dgm:t>
        <a:bodyPr/>
        <a:lstStyle/>
        <a:p>
          <a:endParaRPr lang="es-PE"/>
        </a:p>
      </dgm:t>
    </dgm:pt>
    <dgm:pt modelId="{B6BEA675-BE2E-4EE8-B5EE-3967C953155F}">
      <dgm:prSet phldrT="[Texto]" custT="1"/>
      <dgm:spPr/>
      <dgm:t>
        <a:bodyPr/>
        <a:lstStyle/>
        <a:p>
          <a:r>
            <a:rPr lang="es-PE" sz="1400"/>
            <a:t>Prueba</a:t>
          </a:r>
        </a:p>
      </dgm:t>
    </dgm:pt>
    <dgm:pt modelId="{D467A02F-6D95-4A76-AE29-1C2CED3AAFA9}" type="parTrans" cxnId="{3260CF34-664A-495B-8835-5A81AEC4CAB0}">
      <dgm:prSet/>
      <dgm:spPr/>
      <dgm:t>
        <a:bodyPr/>
        <a:lstStyle/>
        <a:p>
          <a:endParaRPr lang="es-PE"/>
        </a:p>
      </dgm:t>
    </dgm:pt>
    <dgm:pt modelId="{1478C0E8-C111-4F54-99E3-2047447340BD}" type="sibTrans" cxnId="{3260CF34-664A-495B-8835-5A81AEC4CAB0}">
      <dgm:prSet/>
      <dgm:spPr/>
      <dgm:t>
        <a:bodyPr/>
        <a:lstStyle/>
        <a:p>
          <a:endParaRPr lang="es-PE"/>
        </a:p>
      </dgm:t>
    </dgm:pt>
    <dgm:pt modelId="{D708CCDD-8439-44EA-B4DC-43C561A3BCB7}">
      <dgm:prSet custT="1"/>
      <dgm:spPr/>
      <dgm:t>
        <a:bodyPr/>
        <a:lstStyle/>
        <a:p>
          <a:r>
            <a:rPr lang="es-PE" sz="1400"/>
            <a:t>Mejora</a:t>
          </a:r>
        </a:p>
      </dgm:t>
    </dgm:pt>
    <dgm:pt modelId="{90370A6B-1A45-42CA-89BA-FBC438E37CD9}" type="parTrans" cxnId="{04A0ED2F-9657-44D2-BB55-0D7A014DCD80}">
      <dgm:prSet/>
      <dgm:spPr/>
      <dgm:t>
        <a:bodyPr/>
        <a:lstStyle/>
        <a:p>
          <a:endParaRPr lang="es-PE"/>
        </a:p>
      </dgm:t>
    </dgm:pt>
    <dgm:pt modelId="{F2453C84-B6B0-43E9-BED3-EE77A8D913E5}" type="sibTrans" cxnId="{04A0ED2F-9657-44D2-BB55-0D7A014DCD80}">
      <dgm:prSet/>
      <dgm:spPr/>
      <dgm:t>
        <a:bodyPr/>
        <a:lstStyle/>
        <a:p>
          <a:endParaRPr lang="es-PE"/>
        </a:p>
      </dgm:t>
    </dgm:pt>
    <dgm:pt modelId="{604CA539-053A-4D80-B6AF-DBFB732D3CFC}" type="pres">
      <dgm:prSet presAssocID="{4627AF42-4374-4954-804B-CA84E1EACEA7}" presName="rootnode" presStyleCnt="0">
        <dgm:presLayoutVars>
          <dgm:chMax/>
          <dgm:chPref/>
          <dgm:dir/>
          <dgm:animLvl val="lvl"/>
        </dgm:presLayoutVars>
      </dgm:prSet>
      <dgm:spPr/>
    </dgm:pt>
    <dgm:pt modelId="{1C17D592-2F36-45C3-845B-EE35AECAFFDE}" type="pres">
      <dgm:prSet presAssocID="{6B66C9A6-4A16-4BAD-92E8-265A4B01BF47}" presName="composite" presStyleCnt="0"/>
      <dgm:spPr/>
    </dgm:pt>
    <dgm:pt modelId="{2D94E868-1D49-4FA9-A164-9A1F7C320A16}" type="pres">
      <dgm:prSet presAssocID="{6B66C9A6-4A16-4BAD-92E8-265A4B01BF47}" presName="bentUpArrow1" presStyleLbl="alignImgPlace1" presStyleIdx="0" presStyleCnt="3"/>
      <dgm:spPr/>
    </dgm:pt>
    <dgm:pt modelId="{1898E975-9E3A-45C4-810B-5ED221FEAFEC}" type="pres">
      <dgm:prSet presAssocID="{6B66C9A6-4A16-4BAD-92E8-265A4B01BF47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2D455C17-FFCB-4FD6-A440-69023AAA8A48}" type="pres">
      <dgm:prSet presAssocID="{6B66C9A6-4A16-4BAD-92E8-265A4B01BF47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CF96CBD3-9AF1-4C5A-B965-AAE2FD96131D}" type="pres">
      <dgm:prSet presAssocID="{895F4D6A-B27B-43B4-A3C6-5FA0A4A7EC26}" presName="sibTrans" presStyleCnt="0"/>
      <dgm:spPr/>
    </dgm:pt>
    <dgm:pt modelId="{0D0DC8E8-4C0B-4E32-81CF-242057040357}" type="pres">
      <dgm:prSet presAssocID="{5C26F4A3-B4BF-46AD-AA68-F1FA73CF38CC}" presName="composite" presStyleCnt="0"/>
      <dgm:spPr/>
    </dgm:pt>
    <dgm:pt modelId="{CA56BCB0-963F-46FF-B435-577B308A3C64}" type="pres">
      <dgm:prSet presAssocID="{5C26F4A3-B4BF-46AD-AA68-F1FA73CF38CC}" presName="bentUpArrow1" presStyleLbl="alignImgPlace1" presStyleIdx="1" presStyleCnt="3"/>
      <dgm:spPr/>
    </dgm:pt>
    <dgm:pt modelId="{B1B205BD-0D87-42A0-8B4F-396B8930EE28}" type="pres">
      <dgm:prSet presAssocID="{5C26F4A3-B4BF-46AD-AA68-F1FA73CF38CC}" presName="ParentText" presStyleLbl="node1" presStyleIdx="1" presStyleCnt="4" custScaleX="100000">
        <dgm:presLayoutVars>
          <dgm:chMax val="1"/>
          <dgm:chPref val="1"/>
          <dgm:bulletEnabled val="1"/>
        </dgm:presLayoutVars>
      </dgm:prSet>
      <dgm:spPr/>
    </dgm:pt>
    <dgm:pt modelId="{9AF0A718-B9B7-4513-8C3A-AA7F4E98E45C}" type="pres">
      <dgm:prSet presAssocID="{5C26F4A3-B4BF-46AD-AA68-F1FA73CF38CC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D936B4E-8329-492A-9198-D7C1830115B4}" type="pres">
      <dgm:prSet presAssocID="{B5BC0993-BF05-4E68-98E5-275BB682FF4E}" presName="sibTrans" presStyleCnt="0"/>
      <dgm:spPr/>
    </dgm:pt>
    <dgm:pt modelId="{6102609C-E6AF-44D5-99CE-2CB6002AA424}" type="pres">
      <dgm:prSet presAssocID="{B6BEA675-BE2E-4EE8-B5EE-3967C953155F}" presName="composite" presStyleCnt="0"/>
      <dgm:spPr/>
    </dgm:pt>
    <dgm:pt modelId="{B2566BEB-C7A9-4362-8625-7304343AB276}" type="pres">
      <dgm:prSet presAssocID="{B6BEA675-BE2E-4EE8-B5EE-3967C953155F}" presName="bentUpArrow1" presStyleLbl="alignImgPlace1" presStyleIdx="2" presStyleCnt="3"/>
      <dgm:spPr/>
    </dgm:pt>
    <dgm:pt modelId="{B9DA470A-331F-48E8-A37D-C4FD3A704E73}" type="pres">
      <dgm:prSet presAssocID="{B6BEA675-BE2E-4EE8-B5EE-3967C953155F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7062B41F-95D8-45EA-9211-A6EA71796776}" type="pres">
      <dgm:prSet presAssocID="{B6BEA675-BE2E-4EE8-B5EE-3967C953155F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773B8A8F-1072-4CFD-806A-55F6EA332F8C}" type="pres">
      <dgm:prSet presAssocID="{1478C0E8-C111-4F54-99E3-2047447340BD}" presName="sibTrans" presStyleCnt="0"/>
      <dgm:spPr/>
    </dgm:pt>
    <dgm:pt modelId="{5D47648E-9DB2-4D20-B58A-41259E613BBC}" type="pres">
      <dgm:prSet presAssocID="{D708CCDD-8439-44EA-B4DC-43C561A3BCB7}" presName="composite" presStyleCnt="0"/>
      <dgm:spPr/>
    </dgm:pt>
    <dgm:pt modelId="{3ECAC44A-E5C2-4CAB-BA57-D9FCE714B47F}" type="pres">
      <dgm:prSet presAssocID="{D708CCDD-8439-44EA-B4DC-43C561A3BCB7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AC16CA0A-342F-41DD-9E69-4DE2542AE06C}" srcId="{4627AF42-4374-4954-804B-CA84E1EACEA7}" destId="{6B66C9A6-4A16-4BAD-92E8-265A4B01BF47}" srcOrd="0" destOrd="0" parTransId="{4A5503B8-F820-480E-9917-71ECDB1FB371}" sibTransId="{895F4D6A-B27B-43B4-A3C6-5FA0A4A7EC26}"/>
    <dgm:cxn modelId="{04A0ED2F-9657-44D2-BB55-0D7A014DCD80}" srcId="{4627AF42-4374-4954-804B-CA84E1EACEA7}" destId="{D708CCDD-8439-44EA-B4DC-43C561A3BCB7}" srcOrd="3" destOrd="0" parTransId="{90370A6B-1A45-42CA-89BA-FBC438E37CD9}" sibTransId="{F2453C84-B6B0-43E9-BED3-EE77A8D913E5}"/>
    <dgm:cxn modelId="{3260CF34-664A-495B-8835-5A81AEC4CAB0}" srcId="{4627AF42-4374-4954-804B-CA84E1EACEA7}" destId="{B6BEA675-BE2E-4EE8-B5EE-3967C953155F}" srcOrd="2" destOrd="0" parTransId="{D467A02F-6D95-4A76-AE29-1C2CED3AAFA9}" sibTransId="{1478C0E8-C111-4F54-99E3-2047447340BD}"/>
    <dgm:cxn modelId="{0F717735-1D69-44BA-B57E-DDCBDCB8674A}" srcId="{4627AF42-4374-4954-804B-CA84E1EACEA7}" destId="{5C26F4A3-B4BF-46AD-AA68-F1FA73CF38CC}" srcOrd="1" destOrd="0" parTransId="{F55A1B2A-B192-4FEF-A663-E4AD3055FD4F}" sibTransId="{B5BC0993-BF05-4E68-98E5-275BB682FF4E}"/>
    <dgm:cxn modelId="{CC4D795B-1FD6-4C81-860F-32E6267BBC8A}" type="presOf" srcId="{6B66C9A6-4A16-4BAD-92E8-265A4B01BF47}" destId="{1898E975-9E3A-45C4-810B-5ED221FEAFEC}" srcOrd="0" destOrd="0" presId="urn:microsoft.com/office/officeart/2005/8/layout/StepDownProcess"/>
    <dgm:cxn modelId="{A62FF15F-8759-4F2B-BC8D-4873551ADF1E}" type="presOf" srcId="{4627AF42-4374-4954-804B-CA84E1EACEA7}" destId="{604CA539-053A-4D80-B6AF-DBFB732D3CFC}" srcOrd="0" destOrd="0" presId="urn:microsoft.com/office/officeart/2005/8/layout/StepDownProcess"/>
    <dgm:cxn modelId="{1277FA43-6733-4484-A187-85A5DB686050}" type="presOf" srcId="{5C26F4A3-B4BF-46AD-AA68-F1FA73CF38CC}" destId="{B1B205BD-0D87-42A0-8B4F-396B8930EE28}" srcOrd="0" destOrd="0" presId="urn:microsoft.com/office/officeart/2005/8/layout/StepDownProcess"/>
    <dgm:cxn modelId="{6B581993-A4DB-475C-B6A8-F61CBB984125}" type="presOf" srcId="{B6BEA675-BE2E-4EE8-B5EE-3967C953155F}" destId="{B9DA470A-331F-48E8-A37D-C4FD3A704E73}" srcOrd="0" destOrd="0" presId="urn:microsoft.com/office/officeart/2005/8/layout/StepDownProcess"/>
    <dgm:cxn modelId="{A1D034C5-5972-4223-A02F-EDBC0ADFBDCE}" type="presOf" srcId="{D708CCDD-8439-44EA-B4DC-43C561A3BCB7}" destId="{3ECAC44A-E5C2-4CAB-BA57-D9FCE714B47F}" srcOrd="0" destOrd="0" presId="urn:microsoft.com/office/officeart/2005/8/layout/StepDownProcess"/>
    <dgm:cxn modelId="{C3909497-0390-4059-9ADA-955E023D29E7}" type="presParOf" srcId="{604CA539-053A-4D80-B6AF-DBFB732D3CFC}" destId="{1C17D592-2F36-45C3-845B-EE35AECAFFDE}" srcOrd="0" destOrd="0" presId="urn:microsoft.com/office/officeart/2005/8/layout/StepDownProcess"/>
    <dgm:cxn modelId="{F60FF9B2-D52D-4EB6-B695-4C1C4E24DC11}" type="presParOf" srcId="{1C17D592-2F36-45C3-845B-EE35AECAFFDE}" destId="{2D94E868-1D49-4FA9-A164-9A1F7C320A16}" srcOrd="0" destOrd="0" presId="urn:microsoft.com/office/officeart/2005/8/layout/StepDownProcess"/>
    <dgm:cxn modelId="{D37A222E-408D-460C-AD6C-C86345E60F59}" type="presParOf" srcId="{1C17D592-2F36-45C3-845B-EE35AECAFFDE}" destId="{1898E975-9E3A-45C4-810B-5ED221FEAFEC}" srcOrd="1" destOrd="0" presId="urn:microsoft.com/office/officeart/2005/8/layout/StepDownProcess"/>
    <dgm:cxn modelId="{3115B69E-9905-4FB5-B088-4BD978520C45}" type="presParOf" srcId="{1C17D592-2F36-45C3-845B-EE35AECAFFDE}" destId="{2D455C17-FFCB-4FD6-A440-69023AAA8A48}" srcOrd="2" destOrd="0" presId="urn:microsoft.com/office/officeart/2005/8/layout/StepDownProcess"/>
    <dgm:cxn modelId="{C52D3C77-FA26-4D26-86FA-669924988B7F}" type="presParOf" srcId="{604CA539-053A-4D80-B6AF-DBFB732D3CFC}" destId="{CF96CBD3-9AF1-4C5A-B965-AAE2FD96131D}" srcOrd="1" destOrd="0" presId="urn:microsoft.com/office/officeart/2005/8/layout/StepDownProcess"/>
    <dgm:cxn modelId="{06663B03-4DED-4351-84D8-8A9246417372}" type="presParOf" srcId="{604CA539-053A-4D80-B6AF-DBFB732D3CFC}" destId="{0D0DC8E8-4C0B-4E32-81CF-242057040357}" srcOrd="2" destOrd="0" presId="urn:microsoft.com/office/officeart/2005/8/layout/StepDownProcess"/>
    <dgm:cxn modelId="{049C6343-35A5-4E49-879C-7C8244FC45B2}" type="presParOf" srcId="{0D0DC8E8-4C0B-4E32-81CF-242057040357}" destId="{CA56BCB0-963F-46FF-B435-577B308A3C64}" srcOrd="0" destOrd="0" presId="urn:microsoft.com/office/officeart/2005/8/layout/StepDownProcess"/>
    <dgm:cxn modelId="{902D2CAC-A6F2-4A33-A2C8-F8D1D51E376A}" type="presParOf" srcId="{0D0DC8E8-4C0B-4E32-81CF-242057040357}" destId="{B1B205BD-0D87-42A0-8B4F-396B8930EE28}" srcOrd="1" destOrd="0" presId="urn:microsoft.com/office/officeart/2005/8/layout/StepDownProcess"/>
    <dgm:cxn modelId="{7B1309AF-0021-4A59-AC14-B4E94D33DEBA}" type="presParOf" srcId="{0D0DC8E8-4C0B-4E32-81CF-242057040357}" destId="{9AF0A718-B9B7-4513-8C3A-AA7F4E98E45C}" srcOrd="2" destOrd="0" presId="urn:microsoft.com/office/officeart/2005/8/layout/StepDownProcess"/>
    <dgm:cxn modelId="{B84CBEDC-1322-4BFB-B2C5-CD832F1EAE16}" type="presParOf" srcId="{604CA539-053A-4D80-B6AF-DBFB732D3CFC}" destId="{3D936B4E-8329-492A-9198-D7C1830115B4}" srcOrd="3" destOrd="0" presId="urn:microsoft.com/office/officeart/2005/8/layout/StepDownProcess"/>
    <dgm:cxn modelId="{539FBE62-8213-4204-88D4-41B46ECAD579}" type="presParOf" srcId="{604CA539-053A-4D80-B6AF-DBFB732D3CFC}" destId="{6102609C-E6AF-44D5-99CE-2CB6002AA424}" srcOrd="4" destOrd="0" presId="urn:microsoft.com/office/officeart/2005/8/layout/StepDownProcess"/>
    <dgm:cxn modelId="{28E1E247-BD88-4F21-ACF0-6672AA6CE314}" type="presParOf" srcId="{6102609C-E6AF-44D5-99CE-2CB6002AA424}" destId="{B2566BEB-C7A9-4362-8625-7304343AB276}" srcOrd="0" destOrd="0" presId="urn:microsoft.com/office/officeart/2005/8/layout/StepDownProcess"/>
    <dgm:cxn modelId="{ED871FD8-BDDC-409F-8E7A-DDDC057F321D}" type="presParOf" srcId="{6102609C-E6AF-44D5-99CE-2CB6002AA424}" destId="{B9DA470A-331F-48E8-A37D-C4FD3A704E73}" srcOrd="1" destOrd="0" presId="urn:microsoft.com/office/officeart/2005/8/layout/StepDownProcess"/>
    <dgm:cxn modelId="{85727824-1672-46E9-B598-AB4C6C595C11}" type="presParOf" srcId="{6102609C-E6AF-44D5-99CE-2CB6002AA424}" destId="{7062B41F-95D8-45EA-9211-A6EA71796776}" srcOrd="2" destOrd="0" presId="urn:microsoft.com/office/officeart/2005/8/layout/StepDownProcess"/>
    <dgm:cxn modelId="{52C10356-A4C2-4A23-87F2-33087B9DC281}" type="presParOf" srcId="{604CA539-053A-4D80-B6AF-DBFB732D3CFC}" destId="{773B8A8F-1072-4CFD-806A-55F6EA332F8C}" srcOrd="5" destOrd="0" presId="urn:microsoft.com/office/officeart/2005/8/layout/StepDownProcess"/>
    <dgm:cxn modelId="{6BD1C953-8136-4F7C-9F9B-9D0443387365}" type="presParOf" srcId="{604CA539-053A-4D80-B6AF-DBFB732D3CFC}" destId="{5D47648E-9DB2-4D20-B58A-41259E613BBC}" srcOrd="6" destOrd="0" presId="urn:microsoft.com/office/officeart/2005/8/layout/StepDownProcess"/>
    <dgm:cxn modelId="{8D4C1026-0D3D-4730-865F-3AF7EC2DA688}" type="presParOf" srcId="{5D47648E-9DB2-4D20-B58A-41259E613BBC}" destId="{3ECAC44A-E5C2-4CAB-BA57-D9FCE714B47F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4E868-1D49-4FA9-A164-9A1F7C320A16}">
      <dsp:nvSpPr>
        <dsp:cNvPr id="0" name=""/>
        <dsp:cNvSpPr/>
      </dsp:nvSpPr>
      <dsp:spPr>
        <a:xfrm rot="5400000">
          <a:off x="3247846" y="951597"/>
          <a:ext cx="835709" cy="9514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8E975-9E3A-45C4-810B-5ED221FEAFEC}">
      <dsp:nvSpPr>
        <dsp:cNvPr id="0" name=""/>
        <dsp:cNvSpPr/>
      </dsp:nvSpPr>
      <dsp:spPr>
        <a:xfrm>
          <a:off x="3026434" y="25196"/>
          <a:ext cx="1406842" cy="984744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Planificación</a:t>
          </a:r>
        </a:p>
      </dsp:txBody>
      <dsp:txXfrm>
        <a:off x="3074514" y="73276"/>
        <a:ext cx="1310682" cy="888584"/>
      </dsp:txXfrm>
    </dsp:sp>
    <dsp:sp modelId="{2D455C17-FFCB-4FD6-A440-69023AAA8A48}">
      <dsp:nvSpPr>
        <dsp:cNvPr id="0" name=""/>
        <dsp:cNvSpPr/>
      </dsp:nvSpPr>
      <dsp:spPr>
        <a:xfrm>
          <a:off x="4433276" y="119114"/>
          <a:ext cx="1023203" cy="79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6BCB0-963F-46FF-B435-577B308A3C64}">
      <dsp:nvSpPr>
        <dsp:cNvPr id="0" name=""/>
        <dsp:cNvSpPr/>
      </dsp:nvSpPr>
      <dsp:spPr>
        <a:xfrm rot="5400000">
          <a:off x="4414268" y="2057789"/>
          <a:ext cx="835709" cy="9514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-440331"/>
            <a:satOff val="-38085"/>
            <a:lumOff val="43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205BD-0D87-42A0-8B4F-396B8930EE28}">
      <dsp:nvSpPr>
        <dsp:cNvPr id="0" name=""/>
        <dsp:cNvSpPr/>
      </dsp:nvSpPr>
      <dsp:spPr>
        <a:xfrm>
          <a:off x="4192855" y="1131389"/>
          <a:ext cx="1406842" cy="984744"/>
        </a:xfrm>
        <a:prstGeom prst="roundRect">
          <a:avLst>
            <a:gd name="adj" fmla="val 1667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Implementación</a:t>
          </a:r>
        </a:p>
      </dsp:txBody>
      <dsp:txXfrm>
        <a:off x="4240935" y="1179469"/>
        <a:ext cx="1310682" cy="888584"/>
      </dsp:txXfrm>
    </dsp:sp>
    <dsp:sp modelId="{9AF0A718-B9B7-4513-8C3A-AA7F4E98E45C}">
      <dsp:nvSpPr>
        <dsp:cNvPr id="0" name=""/>
        <dsp:cNvSpPr/>
      </dsp:nvSpPr>
      <dsp:spPr>
        <a:xfrm>
          <a:off x="5599698" y="1225307"/>
          <a:ext cx="1023203" cy="79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66BEB-C7A9-4362-8625-7304343AB276}">
      <dsp:nvSpPr>
        <dsp:cNvPr id="0" name=""/>
        <dsp:cNvSpPr/>
      </dsp:nvSpPr>
      <dsp:spPr>
        <a:xfrm rot="5400000">
          <a:off x="5580689" y="3163982"/>
          <a:ext cx="835709" cy="95142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-880662"/>
            <a:satOff val="-76170"/>
            <a:lumOff val="87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A470A-331F-48E8-A37D-C4FD3A704E73}">
      <dsp:nvSpPr>
        <dsp:cNvPr id="0" name=""/>
        <dsp:cNvSpPr/>
      </dsp:nvSpPr>
      <dsp:spPr>
        <a:xfrm>
          <a:off x="5359277" y="2237581"/>
          <a:ext cx="1406842" cy="984744"/>
        </a:xfrm>
        <a:prstGeom prst="roundRect">
          <a:avLst>
            <a:gd name="adj" fmla="val 1667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Prueba</a:t>
          </a:r>
        </a:p>
      </dsp:txBody>
      <dsp:txXfrm>
        <a:off x="5407357" y="2285661"/>
        <a:ext cx="1310682" cy="888584"/>
      </dsp:txXfrm>
    </dsp:sp>
    <dsp:sp modelId="{7062B41F-95D8-45EA-9211-A6EA71796776}">
      <dsp:nvSpPr>
        <dsp:cNvPr id="0" name=""/>
        <dsp:cNvSpPr/>
      </dsp:nvSpPr>
      <dsp:spPr>
        <a:xfrm>
          <a:off x="6766120" y="2331499"/>
          <a:ext cx="1023203" cy="79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AC44A-E5C2-4CAB-BA57-D9FCE714B47F}">
      <dsp:nvSpPr>
        <dsp:cNvPr id="0" name=""/>
        <dsp:cNvSpPr/>
      </dsp:nvSpPr>
      <dsp:spPr>
        <a:xfrm>
          <a:off x="6525699" y="3343774"/>
          <a:ext cx="1406842" cy="984744"/>
        </a:xfrm>
        <a:prstGeom prst="roundRect">
          <a:avLst>
            <a:gd name="adj" fmla="val 1667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kern="1200"/>
            <a:t>Mejora</a:t>
          </a:r>
        </a:p>
      </dsp:txBody>
      <dsp:txXfrm>
        <a:off x="6573779" y="3391854"/>
        <a:ext cx="1310682" cy="888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6369C-BEC5-4F45-B707-2B6EE351DE26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792E4-8B11-684F-8E74-48FF4BD7B8D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87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5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19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916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6389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95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22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595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18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5670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195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7199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4E5B0-D4D0-494B-9599-8C33F2CF978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A37FF-552C-3446-A945-F2CA694166A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3388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video" Target="\ppt\slides\NULL" TargetMode="Externa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_tradnl" sz="5400" b="1" dirty="0">
                <a:solidFill>
                  <a:srgbClr val="FF0000"/>
                </a:solidFill>
              </a:rPr>
              <a:t>Lineamientos</a:t>
            </a:r>
            <a:br>
              <a:rPr lang="es-ES_tradnl" sz="5400" b="1">
                <a:solidFill>
                  <a:srgbClr val="FF0000"/>
                </a:solidFill>
              </a:rPr>
            </a:br>
            <a:r>
              <a:rPr lang="es-ES_tradnl" sz="5400" b="1">
                <a:solidFill>
                  <a:srgbClr val="FF0000"/>
                </a:solidFill>
              </a:rPr>
              <a:t>PTI</a:t>
            </a:r>
            <a:endParaRPr lang="es-ES_tradnl" sz="5400" b="1" dirty="0">
              <a:solidFill>
                <a:srgbClr val="FF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_tradnl" b="1" dirty="0">
                <a:solidFill>
                  <a:srgbClr val="FF0000"/>
                </a:solidFill>
              </a:rPr>
              <a:t>Ingeniería de Sistemas de Información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35" y="0"/>
            <a:ext cx="1273865" cy="12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3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3289" y="118904"/>
            <a:ext cx="10515600" cy="1325563"/>
          </a:xfrm>
        </p:spPr>
        <p:txBody>
          <a:bodyPr/>
          <a:lstStyle/>
          <a:p>
            <a:r>
              <a:rPr lang="es-ES_tradnl" b="1" dirty="0">
                <a:solidFill>
                  <a:srgbClr val="FF0000"/>
                </a:solidFill>
              </a:rPr>
              <a:t>Aporte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35" y="0"/>
            <a:ext cx="1273865" cy="1287417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57A9FDFE-89D6-430E-BB79-7D386AB0D2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13" t="32069" r="36630" b="7419"/>
          <a:stretch/>
        </p:blipFill>
        <p:spPr>
          <a:xfrm>
            <a:off x="5424269" y="1435317"/>
            <a:ext cx="6442672" cy="4909659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A78DEE12-560B-4275-BFE7-4847C324F5DC}"/>
              </a:ext>
            </a:extLst>
          </p:cNvPr>
          <p:cNvSpPr txBox="1"/>
          <p:nvPr/>
        </p:nvSpPr>
        <p:spPr>
          <a:xfrm>
            <a:off x="337625" y="6492876"/>
            <a:ext cx="116936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dirty="0">
                <a:latin typeface="Times-Roman"/>
              </a:rPr>
              <a:t>Fuente: David Mauricio, </a:t>
            </a:r>
            <a:r>
              <a:rPr lang="es-PE" sz="1000" b="0" i="0" dirty="0">
                <a:effectLst/>
                <a:latin typeface="-apple-system"/>
              </a:rPr>
              <a:t>Doctor en Ciencias e Ingeniería de Sistemas, </a:t>
            </a:r>
            <a:r>
              <a:rPr lang="es-PE" sz="1000" b="0" i="0" dirty="0" err="1">
                <a:effectLst/>
                <a:latin typeface="-apple-system"/>
              </a:rPr>
              <a:t>researcher</a:t>
            </a:r>
            <a:r>
              <a:rPr lang="es-PE" sz="1000" b="0" i="0" dirty="0">
                <a:effectLst/>
                <a:latin typeface="-apple-system"/>
              </a:rPr>
              <a:t> Regina – Carlos Monje</a:t>
            </a:r>
            <a:r>
              <a:rPr lang="es-PE" sz="1000" dirty="0">
                <a:latin typeface="Times-Roman"/>
              </a:rPr>
              <a:t> 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9786541-476A-4D41-81C6-5F6312A4C138}"/>
              </a:ext>
            </a:extLst>
          </p:cNvPr>
          <p:cNvSpPr txBox="1"/>
          <p:nvPr/>
        </p:nvSpPr>
        <p:spPr>
          <a:xfrm>
            <a:off x="233289" y="1535657"/>
            <a:ext cx="50420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 </a:t>
            </a:r>
            <a:r>
              <a:rPr lang="es-PE" sz="24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pre-grado</a:t>
            </a:r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el aporte es dado por la aplicación y/o adaptación de un artefacto para resolver el problema de estudio.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A24AFDD-F9EB-43FB-A441-39D323ECB0F8}"/>
              </a:ext>
            </a:extLst>
          </p:cNvPr>
          <p:cNvSpPr txBox="1"/>
          <p:nvPr/>
        </p:nvSpPr>
        <p:spPr>
          <a:xfrm>
            <a:off x="233289" y="3229882"/>
            <a:ext cx="49295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_tradnl"/>
            </a:defPPr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/>
              <a:t>Los artefactos son dados por los siguientes elementos o sus combinaciones:</a:t>
            </a:r>
          </a:p>
          <a:p>
            <a:endParaRPr lang="es-PE" dirty="0"/>
          </a:p>
          <a:p>
            <a:pPr lvl="1"/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•Constructos</a:t>
            </a:r>
          </a:p>
          <a:p>
            <a:pPr lvl="1"/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•Modelos</a:t>
            </a:r>
          </a:p>
          <a:p>
            <a:pPr lvl="1"/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•Métodos</a:t>
            </a:r>
          </a:p>
          <a:p>
            <a:pPr lvl="1"/>
            <a:r>
              <a:rPr lang="es-P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•Instanciaciones</a:t>
            </a:r>
          </a:p>
        </p:txBody>
      </p:sp>
    </p:spTree>
    <p:extLst>
      <p:ext uri="{BB962C8B-B14F-4D97-AF65-F5344CB8AC3E}">
        <p14:creationId xmlns:p14="http://schemas.microsoft.com/office/powerpoint/2010/main" val="371582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echa: pentágono 16">
            <a:extLst>
              <a:ext uri="{FF2B5EF4-FFF2-40B4-BE49-F238E27FC236}">
                <a16:creationId xmlns:a16="http://schemas.microsoft.com/office/drawing/2014/main" id="{554B866F-3E86-481B-92ED-94F915C8E9D0}"/>
              </a:ext>
            </a:extLst>
          </p:cNvPr>
          <p:cNvSpPr/>
          <p:nvPr/>
        </p:nvSpPr>
        <p:spPr>
          <a:xfrm>
            <a:off x="619649" y="3873586"/>
            <a:ext cx="3597113" cy="475581"/>
          </a:xfrm>
          <a:prstGeom prst="homePlate">
            <a:avLst/>
          </a:prstGeom>
          <a:solidFill>
            <a:srgbClr val="548235"/>
          </a:solidFill>
          <a:ln w="38100">
            <a:solidFill>
              <a:sysClr val="windowText" lastClr="00000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Espera atención médica 1 h 18 m</a:t>
            </a:r>
          </a:p>
        </p:txBody>
      </p:sp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54F48CC8-B6F3-43B1-9B24-2ACAEFBE717A}"/>
              </a:ext>
            </a:extLst>
          </p:cNvPr>
          <p:cNvSpPr/>
          <p:nvPr/>
        </p:nvSpPr>
        <p:spPr>
          <a:xfrm>
            <a:off x="4230533" y="3861580"/>
            <a:ext cx="3818222" cy="499592"/>
          </a:xfrm>
          <a:prstGeom prst="homePlate">
            <a:avLst/>
          </a:prstGeom>
          <a:solidFill>
            <a:srgbClr val="B489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Derivar a Centro obstétrico 1 h 12 m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C286A4E-ADFC-4F92-AF8E-3B8FD5EF832B}"/>
              </a:ext>
            </a:extLst>
          </p:cNvPr>
          <p:cNvCxnSpPr>
            <a:cxnSpLocks/>
          </p:cNvCxnSpPr>
          <p:nvPr/>
        </p:nvCxnSpPr>
        <p:spPr>
          <a:xfrm>
            <a:off x="619649" y="2795061"/>
            <a:ext cx="0" cy="1509823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dash"/>
            <a:miter lim="800000"/>
          </a:ln>
          <a:effectLst/>
        </p:spPr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C76EE9-38FA-49FF-AB19-B5D3A3C1FF6D}"/>
              </a:ext>
            </a:extLst>
          </p:cNvPr>
          <p:cNvSpPr txBox="1"/>
          <p:nvPr/>
        </p:nvSpPr>
        <p:spPr>
          <a:xfrm>
            <a:off x="619648" y="2471487"/>
            <a:ext cx="1883006" cy="33855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Ingreso emergencia</a:t>
            </a:r>
          </a:p>
        </p:txBody>
      </p:sp>
      <p:sp>
        <p:nvSpPr>
          <p:cNvPr id="21" name="Flecha: pentágono 20">
            <a:extLst>
              <a:ext uri="{FF2B5EF4-FFF2-40B4-BE49-F238E27FC236}">
                <a16:creationId xmlns:a16="http://schemas.microsoft.com/office/drawing/2014/main" id="{507A6D67-1934-4323-95E0-F08E3DBC8C59}"/>
              </a:ext>
            </a:extLst>
          </p:cNvPr>
          <p:cNvSpPr/>
          <p:nvPr/>
        </p:nvSpPr>
        <p:spPr>
          <a:xfrm>
            <a:off x="4230533" y="4542915"/>
            <a:ext cx="5348172" cy="499592"/>
          </a:xfrm>
          <a:prstGeom prst="homePlate">
            <a:avLst/>
          </a:prstGeom>
          <a:solidFill>
            <a:srgbClr val="00206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Derivar a domicilio 2 h 34 m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4B8B07-9F61-4950-80F8-A2030DEAF70E}"/>
              </a:ext>
            </a:extLst>
          </p:cNvPr>
          <p:cNvSpPr txBox="1"/>
          <p:nvPr/>
        </p:nvSpPr>
        <p:spPr>
          <a:xfrm>
            <a:off x="4216483" y="2453965"/>
            <a:ext cx="2311851" cy="33855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Inicio de atención médica</a:t>
            </a:r>
          </a:p>
        </p:txBody>
      </p:sp>
      <p:sp>
        <p:nvSpPr>
          <p:cNvPr id="23" name="Flecha: pentágono 22">
            <a:extLst>
              <a:ext uri="{FF2B5EF4-FFF2-40B4-BE49-F238E27FC236}">
                <a16:creationId xmlns:a16="http://schemas.microsoft.com/office/drawing/2014/main" id="{BA56D9C0-23C8-4EE3-A087-035E5E0B9DE8}"/>
              </a:ext>
            </a:extLst>
          </p:cNvPr>
          <p:cNvSpPr/>
          <p:nvPr/>
        </p:nvSpPr>
        <p:spPr>
          <a:xfrm>
            <a:off x="4230532" y="5217532"/>
            <a:ext cx="6515783" cy="499592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Derivar a hospitalización 3 h 49 m</a:t>
            </a:r>
          </a:p>
        </p:txBody>
      </p:sp>
      <p:sp>
        <p:nvSpPr>
          <p:cNvPr id="24" name="Flecha: pentágono 23">
            <a:extLst>
              <a:ext uri="{FF2B5EF4-FFF2-40B4-BE49-F238E27FC236}">
                <a16:creationId xmlns:a16="http://schemas.microsoft.com/office/drawing/2014/main" id="{77C671BE-32B2-4537-9312-D2AE52D33203}"/>
              </a:ext>
            </a:extLst>
          </p:cNvPr>
          <p:cNvSpPr/>
          <p:nvPr/>
        </p:nvSpPr>
        <p:spPr>
          <a:xfrm>
            <a:off x="4230531" y="5892149"/>
            <a:ext cx="7767809" cy="499592"/>
          </a:xfrm>
          <a:prstGeom prst="homePlate">
            <a:avLst/>
          </a:prstGeom>
          <a:solidFill>
            <a:srgbClr val="C00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Derivar a sala de operaciones 4 h 54 m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7887F29-B1E8-493E-87D4-EAD76C1F899C}"/>
              </a:ext>
            </a:extLst>
          </p:cNvPr>
          <p:cNvCxnSpPr>
            <a:cxnSpLocks/>
          </p:cNvCxnSpPr>
          <p:nvPr/>
        </p:nvCxnSpPr>
        <p:spPr>
          <a:xfrm>
            <a:off x="4216483" y="2834486"/>
            <a:ext cx="0" cy="1509823"/>
          </a:xfrm>
          <a:prstGeom prst="line">
            <a:avLst/>
          </a:prstGeom>
          <a:noFill/>
          <a:ln w="19050" cap="flat" cmpd="sng" algn="ctr">
            <a:solidFill>
              <a:srgbClr val="4472C4"/>
            </a:solidFill>
            <a:prstDash val="dash"/>
            <a:miter lim="800000"/>
          </a:ln>
          <a:effectLst/>
        </p:spPr>
      </p:cxnSp>
      <p:sp>
        <p:nvSpPr>
          <p:cNvPr id="26" name="Flecha: pentágono 25">
            <a:extLst>
              <a:ext uri="{FF2B5EF4-FFF2-40B4-BE49-F238E27FC236}">
                <a16:creationId xmlns:a16="http://schemas.microsoft.com/office/drawing/2014/main" id="{6BBE53F1-3223-4CCE-921B-FC142FD1ED69}"/>
              </a:ext>
            </a:extLst>
          </p:cNvPr>
          <p:cNvSpPr/>
          <p:nvPr/>
        </p:nvSpPr>
        <p:spPr>
          <a:xfrm>
            <a:off x="619650" y="3165210"/>
            <a:ext cx="8326008" cy="424188"/>
          </a:xfrm>
          <a:prstGeom prst="homePlate">
            <a:avLst/>
          </a:prstGeom>
          <a:solidFill>
            <a:srgbClr val="C00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Duración Total promedio 3 horas 39 minutos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E9FF7F6-215D-406A-8C80-E73E42246C19}"/>
              </a:ext>
            </a:extLst>
          </p:cNvPr>
          <p:cNvSpPr txBox="1">
            <a:spLocks/>
          </p:cNvSpPr>
          <p:nvPr/>
        </p:nvSpPr>
        <p:spPr>
          <a:xfrm>
            <a:off x="312705" y="274913"/>
            <a:ext cx="9197912" cy="7017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s-ES" b="1" dirty="0">
                <a:solidFill>
                  <a:srgbClr val="FF0000"/>
                </a:solidFill>
              </a:rPr>
              <a:t>Problema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4BB7BF5-5F3D-4483-830F-17E10D3B8223}"/>
              </a:ext>
            </a:extLst>
          </p:cNvPr>
          <p:cNvSpPr txBox="1"/>
          <p:nvPr/>
        </p:nvSpPr>
        <p:spPr>
          <a:xfrm>
            <a:off x="5774552" y="6464307"/>
            <a:ext cx="6148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>
                <a:solidFill>
                  <a:schemeClr val="bg1">
                    <a:lumMod val="50000"/>
                  </a:schemeClr>
                </a:solidFill>
              </a:rPr>
              <a:t>Fuente: Informe de la oficina de calidad del INMP - 2018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4ED5564A-BA5B-4AA7-A9E5-55E423B6B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726" y="0"/>
            <a:ext cx="1299274" cy="1299274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D7F7930C-5148-4674-BFCA-DFBFAFF70A4C}"/>
              </a:ext>
            </a:extLst>
          </p:cNvPr>
          <p:cNvSpPr txBox="1"/>
          <p:nvPr/>
        </p:nvSpPr>
        <p:spPr>
          <a:xfrm>
            <a:off x="312705" y="1074376"/>
            <a:ext cx="115665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Demora en el tiempo de atención para la monitorización electrónica de las gestantes primerizas de alto riesgo que se encuentran en el último trimestre, en los hospitales prenatales del Perú. </a:t>
            </a:r>
            <a:endParaRPr lang="es-PE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88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D2ECB9C-8041-485B-864C-7D713017D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672" y="1115426"/>
            <a:ext cx="5028867" cy="529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itle 1"/>
          <p:cNvSpPr>
            <a:spLocks noGrp="1"/>
          </p:cNvSpPr>
          <p:nvPr>
            <p:ph type="title"/>
          </p:nvPr>
        </p:nvSpPr>
        <p:spPr>
          <a:xfrm>
            <a:off x="102543" y="12369"/>
            <a:ext cx="10972800" cy="701731"/>
          </a:xfrm>
        </p:spPr>
        <p:txBody>
          <a:bodyPr>
            <a:spAutoFit/>
          </a:bodyPr>
          <a:lstStyle/>
          <a:p>
            <a:r>
              <a:rPr lang="es-PE" b="1" dirty="0">
                <a:solidFill>
                  <a:srgbClr val="FF0000"/>
                </a:solidFill>
              </a:rPr>
              <a:t>Datos Preliminares</a:t>
            </a:r>
          </a:p>
        </p:txBody>
      </p:sp>
      <p:sp>
        <p:nvSpPr>
          <p:cNvPr id="11" name="Oval 10"/>
          <p:cNvSpPr/>
          <p:nvPr/>
        </p:nvSpPr>
        <p:spPr>
          <a:xfrm>
            <a:off x="6254056" y="3463407"/>
            <a:ext cx="164155" cy="16415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3" name="Group 2"/>
          <p:cNvGrpSpPr/>
          <p:nvPr/>
        </p:nvGrpSpPr>
        <p:grpSpPr>
          <a:xfrm>
            <a:off x="6254057" y="969309"/>
            <a:ext cx="173604" cy="2485755"/>
            <a:chOff x="4495800" y="1486977"/>
            <a:chExt cx="152400" cy="1160973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4572000" y="1567465"/>
              <a:ext cx="0" cy="1080485"/>
            </a:xfrm>
            <a:prstGeom prst="line">
              <a:avLst/>
            </a:prstGeom>
            <a:ln w="28575">
              <a:solidFill>
                <a:schemeClr val="tx1">
                  <a:lumMod val="40000"/>
                  <a:lumOff val="6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Off-page Connector 15"/>
            <p:cNvSpPr/>
            <p:nvPr/>
          </p:nvSpPr>
          <p:spPr>
            <a:xfrm>
              <a:off x="4495800" y="1486977"/>
              <a:ext cx="152400" cy="152400"/>
            </a:xfrm>
            <a:prstGeom prst="flowChartOffpageConnector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7FF2D76B-813E-4083-BF64-BDA9FE6A4E91}"/>
              </a:ext>
            </a:extLst>
          </p:cNvPr>
          <p:cNvSpPr txBox="1"/>
          <p:nvPr/>
        </p:nvSpPr>
        <p:spPr>
          <a:xfrm>
            <a:off x="7380571" y="6527531"/>
            <a:ext cx="4794724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67">
                <a:solidFill>
                  <a:schemeClr val="bg1">
                    <a:lumMod val="50000"/>
                  </a:schemeClr>
                </a:solidFill>
              </a:rPr>
              <a:t>Fuente: Instituto Nacional de Estadística e Informática 2019</a:t>
            </a:r>
          </a:p>
        </p:txBody>
      </p:sp>
      <p:grpSp>
        <p:nvGrpSpPr>
          <p:cNvPr id="39" name="Group 2">
            <a:extLst>
              <a:ext uri="{FF2B5EF4-FFF2-40B4-BE49-F238E27FC236}">
                <a16:creationId xmlns:a16="http://schemas.microsoft.com/office/drawing/2014/main" id="{C01ED1D3-4F3C-474E-B268-96D0C285B9BE}"/>
              </a:ext>
            </a:extLst>
          </p:cNvPr>
          <p:cNvGrpSpPr/>
          <p:nvPr/>
        </p:nvGrpSpPr>
        <p:grpSpPr>
          <a:xfrm rot="16200000">
            <a:off x="3008898" y="510813"/>
            <a:ext cx="197823" cy="6095752"/>
            <a:chOff x="4495800" y="1486977"/>
            <a:chExt cx="152400" cy="1160973"/>
          </a:xfrm>
        </p:grpSpPr>
        <p:cxnSp>
          <p:nvCxnSpPr>
            <p:cNvPr id="40" name="Straight Connector 70">
              <a:extLst>
                <a:ext uri="{FF2B5EF4-FFF2-40B4-BE49-F238E27FC236}">
                  <a16:creationId xmlns:a16="http://schemas.microsoft.com/office/drawing/2014/main" id="{14D45704-90F1-4323-ACB1-17D8DF92E3F2}"/>
                </a:ext>
              </a:extLst>
            </p:cNvPr>
            <p:cNvCxnSpPr/>
            <p:nvPr/>
          </p:nvCxnSpPr>
          <p:spPr>
            <a:xfrm>
              <a:off x="4572000" y="1567465"/>
              <a:ext cx="0" cy="1080485"/>
            </a:xfrm>
            <a:prstGeom prst="line">
              <a:avLst/>
            </a:prstGeom>
            <a:ln w="28575">
              <a:solidFill>
                <a:schemeClr val="tx1">
                  <a:lumMod val="40000"/>
                  <a:lumOff val="6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lowchart: Off-page Connector 15">
              <a:extLst>
                <a:ext uri="{FF2B5EF4-FFF2-40B4-BE49-F238E27FC236}">
                  <a16:creationId xmlns:a16="http://schemas.microsoft.com/office/drawing/2014/main" id="{FF0E23B1-EA9E-4AEE-96AE-C3779D08BFDF}"/>
                </a:ext>
              </a:extLst>
            </p:cNvPr>
            <p:cNvSpPr/>
            <p:nvPr/>
          </p:nvSpPr>
          <p:spPr>
            <a:xfrm>
              <a:off x="4495800" y="1486977"/>
              <a:ext cx="152400" cy="152400"/>
            </a:xfrm>
            <a:prstGeom prst="flowChartOffpageConnector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26" name="Picture 2" descr="PROYECTO SENTIDO">
            <a:extLst>
              <a:ext uri="{FF2B5EF4-FFF2-40B4-BE49-F238E27FC236}">
                <a16:creationId xmlns:a16="http://schemas.microsoft.com/office/drawing/2014/main" id="{28B15C07-C4D3-4FF0-A57C-B11782131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36" y="4752441"/>
            <a:ext cx="1210925" cy="12654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Inversion APEC">
            <a:extLst>
              <a:ext uri="{FF2B5EF4-FFF2-40B4-BE49-F238E27FC236}">
                <a16:creationId xmlns:a16="http://schemas.microsoft.com/office/drawing/2014/main" id="{AB18D712-86AA-48AE-A2FE-0A29CCBE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24" y="971653"/>
            <a:ext cx="1708009" cy="2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2">
            <a:extLst>
              <a:ext uri="{FF2B5EF4-FFF2-40B4-BE49-F238E27FC236}">
                <a16:creationId xmlns:a16="http://schemas.microsoft.com/office/drawing/2014/main" id="{2A44D68C-3F2B-441B-B632-CC0074AB96BC}"/>
              </a:ext>
            </a:extLst>
          </p:cNvPr>
          <p:cNvGrpSpPr/>
          <p:nvPr/>
        </p:nvGrpSpPr>
        <p:grpSpPr>
          <a:xfrm flipV="1">
            <a:off x="6248105" y="3614464"/>
            <a:ext cx="166527" cy="3069933"/>
            <a:chOff x="4495800" y="1486977"/>
            <a:chExt cx="152400" cy="1160973"/>
          </a:xfrm>
        </p:grpSpPr>
        <p:cxnSp>
          <p:nvCxnSpPr>
            <p:cNvPr id="19" name="Straight Connector 70">
              <a:extLst>
                <a:ext uri="{FF2B5EF4-FFF2-40B4-BE49-F238E27FC236}">
                  <a16:creationId xmlns:a16="http://schemas.microsoft.com/office/drawing/2014/main" id="{F69951FF-A2E6-4E4E-8938-ED7D795AF65D}"/>
                </a:ext>
              </a:extLst>
            </p:cNvPr>
            <p:cNvCxnSpPr/>
            <p:nvPr/>
          </p:nvCxnSpPr>
          <p:spPr>
            <a:xfrm>
              <a:off x="4582282" y="1567465"/>
              <a:ext cx="0" cy="1080485"/>
            </a:xfrm>
            <a:prstGeom prst="line">
              <a:avLst/>
            </a:prstGeom>
            <a:ln w="28575">
              <a:solidFill>
                <a:schemeClr val="tx1">
                  <a:lumMod val="40000"/>
                  <a:lumOff val="6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Off-page Connector 15">
              <a:extLst>
                <a:ext uri="{FF2B5EF4-FFF2-40B4-BE49-F238E27FC236}">
                  <a16:creationId xmlns:a16="http://schemas.microsoft.com/office/drawing/2014/main" id="{881181AA-48FD-4AC2-B933-44582DA676DA}"/>
                </a:ext>
              </a:extLst>
            </p:cNvPr>
            <p:cNvSpPr/>
            <p:nvPr/>
          </p:nvSpPr>
          <p:spPr>
            <a:xfrm>
              <a:off x="4495800" y="1486977"/>
              <a:ext cx="152400" cy="152400"/>
            </a:xfrm>
            <a:prstGeom prst="flowChartOffpageConnector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691FDCAF-5388-4400-9BCA-B01DB129901E}"/>
              </a:ext>
            </a:extLst>
          </p:cNvPr>
          <p:cNvSpPr/>
          <p:nvPr/>
        </p:nvSpPr>
        <p:spPr>
          <a:xfrm>
            <a:off x="458797" y="3703035"/>
            <a:ext cx="2118529" cy="943785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53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6 179</a:t>
            </a:r>
            <a:endParaRPr lang="es-ES" sz="720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E4F1FB-F88E-4D72-A5C5-82DE76E50F20}"/>
              </a:ext>
            </a:extLst>
          </p:cNvPr>
          <p:cNvSpPr txBox="1"/>
          <p:nvPr/>
        </p:nvSpPr>
        <p:spPr>
          <a:xfrm>
            <a:off x="2265077" y="3899094"/>
            <a:ext cx="355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/>
              <a:t>Bebés fallecieron el 2019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DC55102-D0F5-4ACF-A205-5AEC980F140B}"/>
              </a:ext>
            </a:extLst>
          </p:cNvPr>
          <p:cNvSpPr/>
          <p:nvPr/>
        </p:nvSpPr>
        <p:spPr>
          <a:xfrm>
            <a:off x="1613856" y="5036341"/>
            <a:ext cx="1169461" cy="69756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37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48%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6D44328-CF34-4599-901A-2D7CCEC8E01F}"/>
              </a:ext>
            </a:extLst>
          </p:cNvPr>
          <p:cNvSpPr txBox="1"/>
          <p:nvPr/>
        </p:nvSpPr>
        <p:spPr>
          <a:xfrm>
            <a:off x="1073008" y="6228647"/>
            <a:ext cx="1265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/>
              <a:t>Fetales</a:t>
            </a:r>
          </a:p>
        </p:txBody>
      </p:sp>
      <p:pic>
        <p:nvPicPr>
          <p:cNvPr id="2050" name="Picture 2" descr="Silueta bebe png 6 » PNG Image">
            <a:extLst>
              <a:ext uri="{FF2B5EF4-FFF2-40B4-BE49-F238E27FC236}">
                <a16:creationId xmlns:a16="http://schemas.microsoft.com/office/drawing/2014/main" id="{01D448BE-FC8D-4E71-80D7-F682277D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954" y="4719218"/>
            <a:ext cx="1513137" cy="13599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EF8529F2-772D-44BF-9F46-1B3BB1B7BE5C}"/>
              </a:ext>
            </a:extLst>
          </p:cNvPr>
          <p:cNvSpPr/>
          <p:nvPr/>
        </p:nvSpPr>
        <p:spPr>
          <a:xfrm>
            <a:off x="4830555" y="5050359"/>
            <a:ext cx="1156427" cy="69756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37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52%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15B5C78-EB03-4EDD-AEE8-754EC5222AAF}"/>
              </a:ext>
            </a:extLst>
          </p:cNvPr>
          <p:cNvSpPr txBox="1"/>
          <p:nvPr/>
        </p:nvSpPr>
        <p:spPr>
          <a:xfrm>
            <a:off x="3839022" y="6222673"/>
            <a:ext cx="1749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/>
              <a:t>Neonatales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2CFBBE-89F6-412C-889A-B612C24AD5D3}"/>
              </a:ext>
            </a:extLst>
          </p:cNvPr>
          <p:cNvSpPr/>
          <p:nvPr/>
        </p:nvSpPr>
        <p:spPr>
          <a:xfrm>
            <a:off x="2149584" y="987549"/>
            <a:ext cx="3366824" cy="943785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53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562 321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A3F0D1-8C57-443A-9A6C-D2DAF614A3F0}"/>
              </a:ext>
            </a:extLst>
          </p:cNvPr>
          <p:cNvSpPr txBox="1"/>
          <p:nvPr/>
        </p:nvSpPr>
        <p:spPr>
          <a:xfrm>
            <a:off x="2057232" y="1781897"/>
            <a:ext cx="355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/>
              <a:t>Nacimientos en 2019</a:t>
            </a:r>
          </a:p>
        </p:txBody>
      </p:sp>
      <p:pic>
        <p:nvPicPr>
          <p:cNvPr id="32" name="Picture 4" descr="ProInversion APEC">
            <a:extLst>
              <a:ext uri="{FF2B5EF4-FFF2-40B4-BE49-F238E27FC236}">
                <a16:creationId xmlns:a16="http://schemas.microsoft.com/office/drawing/2014/main" id="{A6EA6001-FA21-46F6-A22E-85CE0E0F7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5" t="64930" b="1"/>
          <a:stretch/>
        </p:blipFill>
        <p:spPr bwMode="auto">
          <a:xfrm>
            <a:off x="478261" y="2558917"/>
            <a:ext cx="1578971" cy="86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F2F5B6D-5664-4CD2-BB07-D1ED639B17DE}"/>
              </a:ext>
            </a:extLst>
          </p:cNvPr>
          <p:cNvCxnSpPr>
            <a:cxnSpLocks/>
          </p:cNvCxnSpPr>
          <p:nvPr/>
        </p:nvCxnSpPr>
        <p:spPr>
          <a:xfrm>
            <a:off x="1673221" y="2819400"/>
            <a:ext cx="1183716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FE8FA88-9B79-49EE-8005-FE4ABDADEA99}"/>
              </a:ext>
            </a:extLst>
          </p:cNvPr>
          <p:cNvSpPr txBox="1"/>
          <p:nvPr/>
        </p:nvSpPr>
        <p:spPr>
          <a:xfrm>
            <a:off x="2526191" y="2419539"/>
            <a:ext cx="2726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/>
              <a:t>30 000 son prematuros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0140484-C6FD-4472-83AE-4A36B3AF96AC}"/>
              </a:ext>
            </a:extLst>
          </p:cNvPr>
          <p:cNvSpPr/>
          <p:nvPr/>
        </p:nvSpPr>
        <p:spPr>
          <a:xfrm>
            <a:off x="7053761" y="797994"/>
            <a:ext cx="4653831" cy="2482667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153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86 %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C2BF83A-62AE-4A40-A2AD-EA7A6AEBABDD}"/>
              </a:ext>
            </a:extLst>
          </p:cNvPr>
          <p:cNvSpPr txBox="1"/>
          <p:nvPr/>
        </p:nvSpPr>
        <p:spPr>
          <a:xfrm>
            <a:off x="6704317" y="3125490"/>
            <a:ext cx="5162857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s-PE" sz="2400">
                <a:solidFill>
                  <a:schemeClr val="bg2">
                    <a:lumMod val="50000"/>
                  </a:schemeClr>
                </a:solidFill>
              </a:rPr>
              <a:t>Mueren prematuramente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81CB3AC-C6C9-4570-9644-9DFCD5A4B66F}"/>
              </a:ext>
            </a:extLst>
          </p:cNvPr>
          <p:cNvSpPr/>
          <p:nvPr/>
        </p:nvSpPr>
        <p:spPr>
          <a:xfrm>
            <a:off x="7555525" y="4569790"/>
            <a:ext cx="1420556" cy="69756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37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11 %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224E81C-EAC8-405B-9F5E-D0964499F7A5}"/>
              </a:ext>
            </a:extLst>
          </p:cNvPr>
          <p:cNvSpPr txBox="1"/>
          <p:nvPr/>
        </p:nvSpPr>
        <p:spPr>
          <a:xfrm>
            <a:off x="8976081" y="4692901"/>
            <a:ext cx="2226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>
                <a:solidFill>
                  <a:schemeClr val="bg2">
                    <a:lumMod val="50000"/>
                  </a:schemeClr>
                </a:solidFill>
              </a:rPr>
              <a:t>Hipoxia uterina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FA253EB-F1DD-4066-A4F9-46DFD5BD1748}"/>
              </a:ext>
            </a:extLst>
          </p:cNvPr>
          <p:cNvSpPr/>
          <p:nvPr/>
        </p:nvSpPr>
        <p:spPr>
          <a:xfrm>
            <a:off x="7555525" y="5258034"/>
            <a:ext cx="1420556" cy="69756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37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11 %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518FD6F-3A1D-461B-BA56-9F6B518CF5B8}"/>
              </a:ext>
            </a:extLst>
          </p:cNvPr>
          <p:cNvSpPr txBox="1"/>
          <p:nvPr/>
        </p:nvSpPr>
        <p:spPr>
          <a:xfrm>
            <a:off x="9003876" y="5357730"/>
            <a:ext cx="175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>
                <a:solidFill>
                  <a:schemeClr val="bg2">
                    <a:lumMod val="50000"/>
                  </a:schemeClr>
                </a:solidFill>
              </a:rPr>
              <a:t>Infecciones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17E1632-1718-40CB-85D2-CB225C0692D3}"/>
              </a:ext>
            </a:extLst>
          </p:cNvPr>
          <p:cNvSpPr/>
          <p:nvPr/>
        </p:nvSpPr>
        <p:spPr>
          <a:xfrm>
            <a:off x="7550654" y="3903671"/>
            <a:ext cx="1420556" cy="69756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s-ES" sz="3733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75 %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4919B1D-9811-47E3-8629-6F26166AAEBD}"/>
              </a:ext>
            </a:extLst>
          </p:cNvPr>
          <p:cNvSpPr txBox="1"/>
          <p:nvPr/>
        </p:nvSpPr>
        <p:spPr>
          <a:xfrm>
            <a:off x="8971210" y="4077347"/>
            <a:ext cx="234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chemeClr val="bg2">
                    <a:lumMod val="50000"/>
                  </a:schemeClr>
                </a:solidFill>
              </a:rPr>
              <a:t>Último trimestre</a:t>
            </a:r>
            <a:endParaRPr lang="es-PE" sz="240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822E03F5-73AD-45B5-8112-3408FFF5AF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726" y="31400"/>
            <a:ext cx="1299274" cy="12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6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5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5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  <p:bldP spid="11" grpId="0" animBg="1"/>
      <p:bldP spid="107" grpId="0"/>
      <p:bldP spid="2" grpId="0"/>
      <p:bldP spid="4" grpId="0"/>
      <p:bldP spid="23" grpId="0"/>
      <p:bldP spid="24" grpId="0"/>
      <p:bldP spid="27" grpId="0"/>
      <p:bldP spid="28" grpId="0"/>
      <p:bldP spid="25" grpId="0"/>
      <p:bldP spid="26" grpId="0"/>
      <p:bldP spid="35" grpId="0"/>
      <p:bldP spid="29" grpId="0"/>
      <p:bldP spid="30" grpId="0"/>
      <p:bldP spid="33" grpId="0"/>
      <p:bldP spid="34" grpId="0"/>
      <p:bldP spid="36" grpId="0"/>
      <p:bldP spid="37" grpId="0"/>
      <p:bldP spid="38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45" y="0"/>
            <a:ext cx="10515600" cy="1325563"/>
          </a:xfrm>
        </p:spPr>
        <p:txBody>
          <a:bodyPr/>
          <a:lstStyle/>
          <a:p>
            <a:r>
              <a:rPr lang="es-ES_tradnl" b="1" dirty="0">
                <a:solidFill>
                  <a:srgbClr val="FF0000"/>
                </a:solidFill>
              </a:rPr>
              <a:t>Objetivos del Proyecto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35" y="0"/>
            <a:ext cx="1273865" cy="1287417"/>
          </a:xfrm>
          <a:prstGeom prst="rect">
            <a:avLst/>
          </a:prstGeom>
        </p:spPr>
      </p:pic>
      <p:grpSp>
        <p:nvGrpSpPr>
          <p:cNvPr id="26" name="Group 3"/>
          <p:cNvGrpSpPr/>
          <p:nvPr/>
        </p:nvGrpSpPr>
        <p:grpSpPr>
          <a:xfrm>
            <a:off x="1633033" y="4533607"/>
            <a:ext cx="2057400" cy="588579"/>
            <a:chOff x="701702" y="2634888"/>
            <a:chExt cx="2057400" cy="588579"/>
          </a:xfrm>
        </p:grpSpPr>
        <p:sp>
          <p:nvSpPr>
            <p:cNvPr id="27" name="Rounded Rectangle 1"/>
            <p:cNvSpPr/>
            <p:nvPr/>
          </p:nvSpPr>
          <p:spPr>
            <a:xfrm>
              <a:off x="701702" y="2766267"/>
              <a:ext cx="2057400" cy="4572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Content Placeholder 2"/>
            <p:cNvSpPr txBox="1">
              <a:spLocks/>
            </p:cNvSpPr>
            <p:nvPr/>
          </p:nvSpPr>
          <p:spPr>
            <a:xfrm>
              <a:off x="998551" y="2865061"/>
              <a:ext cx="1524301" cy="27551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ANÁLISIS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9" name="Isosceles Triangle 2"/>
            <p:cNvSpPr/>
            <p:nvPr/>
          </p:nvSpPr>
          <p:spPr>
            <a:xfrm>
              <a:off x="1544209" y="2634888"/>
              <a:ext cx="152400" cy="131379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 11"/>
            <p:cNvSpPr>
              <a:spLocks noEditPoints="1"/>
            </p:cNvSpPr>
            <p:nvPr/>
          </p:nvSpPr>
          <p:spPr bwMode="auto">
            <a:xfrm>
              <a:off x="844860" y="2916242"/>
              <a:ext cx="164895" cy="164457"/>
            </a:xfrm>
            <a:custGeom>
              <a:avLst/>
              <a:gdLst>
                <a:gd name="T0" fmla="*/ 7 w 319"/>
                <a:gd name="T1" fmla="*/ 291 h 318"/>
                <a:gd name="T2" fmla="*/ 26 w 319"/>
                <a:gd name="T3" fmla="*/ 310 h 318"/>
                <a:gd name="T4" fmla="*/ 53 w 319"/>
                <a:gd name="T5" fmla="*/ 310 h 318"/>
                <a:gd name="T6" fmla="*/ 129 w 319"/>
                <a:gd name="T7" fmla="*/ 234 h 318"/>
                <a:gd name="T8" fmla="*/ 191 w 319"/>
                <a:gd name="T9" fmla="*/ 251 h 318"/>
                <a:gd name="T10" fmla="*/ 319 w 319"/>
                <a:gd name="T11" fmla="*/ 124 h 318"/>
                <a:gd name="T12" fmla="*/ 195 w 319"/>
                <a:gd name="T13" fmla="*/ 0 h 318"/>
                <a:gd name="T14" fmla="*/ 67 w 319"/>
                <a:gd name="T15" fmla="*/ 127 h 318"/>
                <a:gd name="T16" fmla="*/ 85 w 319"/>
                <a:gd name="T17" fmla="*/ 192 h 318"/>
                <a:gd name="T18" fmla="*/ 10 w 319"/>
                <a:gd name="T19" fmla="*/ 267 h 318"/>
                <a:gd name="T20" fmla="*/ 7 w 319"/>
                <a:gd name="T21" fmla="*/ 291 h 318"/>
                <a:gd name="T22" fmla="*/ 191 w 319"/>
                <a:gd name="T23" fmla="*/ 213 h 318"/>
                <a:gd name="T24" fmla="*/ 106 w 319"/>
                <a:gd name="T25" fmla="*/ 127 h 318"/>
                <a:gd name="T26" fmla="*/ 195 w 319"/>
                <a:gd name="T27" fmla="*/ 38 h 318"/>
                <a:gd name="T28" fmla="*/ 281 w 319"/>
                <a:gd name="T29" fmla="*/ 124 h 318"/>
                <a:gd name="T30" fmla="*/ 191 w 319"/>
                <a:gd name="T31" fmla="*/ 213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9" h="318">
                  <a:moveTo>
                    <a:pt x="7" y="291"/>
                  </a:moveTo>
                  <a:cubicBezTo>
                    <a:pt x="26" y="310"/>
                    <a:pt x="26" y="310"/>
                    <a:pt x="26" y="310"/>
                  </a:cubicBezTo>
                  <a:cubicBezTo>
                    <a:pt x="33" y="318"/>
                    <a:pt x="46" y="318"/>
                    <a:pt x="53" y="310"/>
                  </a:cubicBezTo>
                  <a:cubicBezTo>
                    <a:pt x="129" y="234"/>
                    <a:pt x="129" y="234"/>
                    <a:pt x="129" y="234"/>
                  </a:cubicBezTo>
                  <a:cubicBezTo>
                    <a:pt x="147" y="245"/>
                    <a:pt x="169" y="251"/>
                    <a:pt x="191" y="251"/>
                  </a:cubicBezTo>
                  <a:cubicBezTo>
                    <a:pt x="260" y="251"/>
                    <a:pt x="319" y="192"/>
                    <a:pt x="319" y="124"/>
                  </a:cubicBezTo>
                  <a:cubicBezTo>
                    <a:pt x="319" y="55"/>
                    <a:pt x="263" y="0"/>
                    <a:pt x="195" y="0"/>
                  </a:cubicBezTo>
                  <a:cubicBezTo>
                    <a:pt x="127" y="0"/>
                    <a:pt x="67" y="59"/>
                    <a:pt x="67" y="127"/>
                  </a:cubicBezTo>
                  <a:cubicBezTo>
                    <a:pt x="67" y="151"/>
                    <a:pt x="74" y="173"/>
                    <a:pt x="85" y="192"/>
                  </a:cubicBezTo>
                  <a:cubicBezTo>
                    <a:pt x="10" y="267"/>
                    <a:pt x="10" y="267"/>
                    <a:pt x="10" y="267"/>
                  </a:cubicBezTo>
                  <a:cubicBezTo>
                    <a:pt x="2" y="275"/>
                    <a:pt x="0" y="284"/>
                    <a:pt x="7" y="291"/>
                  </a:cubicBezTo>
                  <a:close/>
                  <a:moveTo>
                    <a:pt x="191" y="213"/>
                  </a:moveTo>
                  <a:cubicBezTo>
                    <a:pt x="144" y="213"/>
                    <a:pt x="106" y="175"/>
                    <a:pt x="106" y="127"/>
                  </a:cubicBezTo>
                  <a:cubicBezTo>
                    <a:pt x="106" y="80"/>
                    <a:pt x="148" y="38"/>
                    <a:pt x="195" y="38"/>
                  </a:cubicBezTo>
                  <a:cubicBezTo>
                    <a:pt x="242" y="38"/>
                    <a:pt x="281" y="76"/>
                    <a:pt x="281" y="124"/>
                  </a:cubicBezTo>
                  <a:cubicBezTo>
                    <a:pt x="281" y="171"/>
                    <a:pt x="239" y="213"/>
                    <a:pt x="191" y="2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1" name="Group 4"/>
          <p:cNvGrpSpPr/>
          <p:nvPr/>
        </p:nvGrpSpPr>
        <p:grpSpPr>
          <a:xfrm>
            <a:off x="3948339" y="4664986"/>
            <a:ext cx="2057400" cy="590641"/>
            <a:chOff x="2555902" y="2766267"/>
            <a:chExt cx="2057400" cy="590641"/>
          </a:xfrm>
        </p:grpSpPr>
        <p:sp>
          <p:nvSpPr>
            <p:cNvPr id="32" name="Rounded Rectangle 57"/>
            <p:cNvSpPr/>
            <p:nvPr/>
          </p:nvSpPr>
          <p:spPr>
            <a:xfrm>
              <a:off x="2555902" y="2766267"/>
              <a:ext cx="2057400" cy="4572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ntent Placeholder 2"/>
            <p:cNvSpPr txBox="1">
              <a:spLocks/>
            </p:cNvSpPr>
            <p:nvPr/>
          </p:nvSpPr>
          <p:spPr>
            <a:xfrm>
              <a:off x="2963548" y="2865061"/>
              <a:ext cx="1524301" cy="27551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DISEÑO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4" name="Isosceles Triangle 74"/>
            <p:cNvSpPr/>
            <p:nvPr/>
          </p:nvSpPr>
          <p:spPr>
            <a:xfrm flipV="1">
              <a:off x="3505049" y="3225529"/>
              <a:ext cx="152400" cy="131379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 23"/>
            <p:cNvSpPr>
              <a:spLocks/>
            </p:cNvSpPr>
            <p:nvPr/>
          </p:nvSpPr>
          <p:spPr bwMode="auto">
            <a:xfrm>
              <a:off x="2766779" y="2900251"/>
              <a:ext cx="168248" cy="196007"/>
            </a:xfrm>
            <a:custGeom>
              <a:avLst/>
              <a:gdLst>
                <a:gd name="T0" fmla="*/ 274 w 281"/>
                <a:gd name="T1" fmla="*/ 106 h 396"/>
                <a:gd name="T2" fmla="*/ 94 w 281"/>
                <a:gd name="T3" fmla="*/ 13 h 396"/>
                <a:gd name="T4" fmla="*/ 7 w 281"/>
                <a:gd name="T5" fmla="*/ 47 h 396"/>
                <a:gd name="T6" fmla="*/ 1 w 281"/>
                <a:gd name="T7" fmla="*/ 68 h 396"/>
                <a:gd name="T8" fmla="*/ 3 w 281"/>
                <a:gd name="T9" fmla="*/ 278 h 396"/>
                <a:gd name="T10" fmla="*/ 14 w 281"/>
                <a:gd name="T11" fmla="*/ 291 h 396"/>
                <a:gd name="T12" fmla="*/ 179 w 281"/>
                <a:gd name="T13" fmla="*/ 394 h 396"/>
                <a:gd name="T14" fmla="*/ 187 w 281"/>
                <a:gd name="T15" fmla="*/ 396 h 396"/>
                <a:gd name="T16" fmla="*/ 193 w 281"/>
                <a:gd name="T17" fmla="*/ 395 h 396"/>
                <a:gd name="T18" fmla="*/ 201 w 281"/>
                <a:gd name="T19" fmla="*/ 384 h 396"/>
                <a:gd name="T20" fmla="*/ 201 w 281"/>
                <a:gd name="T21" fmla="*/ 164 h 396"/>
                <a:gd name="T22" fmla="*/ 194 w 281"/>
                <a:gd name="T23" fmla="*/ 152 h 396"/>
                <a:gd name="T24" fmla="*/ 30 w 281"/>
                <a:gd name="T25" fmla="*/ 61 h 396"/>
                <a:gd name="T26" fmla="*/ 53 w 281"/>
                <a:gd name="T27" fmla="*/ 43 h 396"/>
                <a:gd name="T28" fmla="*/ 80 w 281"/>
                <a:gd name="T29" fmla="*/ 39 h 396"/>
                <a:gd name="T30" fmla="*/ 242 w 281"/>
                <a:gd name="T31" fmla="*/ 126 h 396"/>
                <a:gd name="T32" fmla="*/ 246 w 281"/>
                <a:gd name="T33" fmla="*/ 133 h 396"/>
                <a:gd name="T34" fmla="*/ 246 w 281"/>
                <a:gd name="T35" fmla="*/ 342 h 396"/>
                <a:gd name="T36" fmla="*/ 265 w 281"/>
                <a:gd name="T37" fmla="*/ 356 h 396"/>
                <a:gd name="T38" fmla="*/ 281 w 281"/>
                <a:gd name="T39" fmla="*/ 342 h 396"/>
                <a:gd name="T40" fmla="*/ 281 w 281"/>
                <a:gd name="T41" fmla="*/ 117 h 396"/>
                <a:gd name="T42" fmla="*/ 274 w 281"/>
                <a:gd name="T43" fmla="*/ 10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1" h="396">
                  <a:moveTo>
                    <a:pt x="274" y="106"/>
                  </a:moveTo>
                  <a:cubicBezTo>
                    <a:pt x="94" y="13"/>
                    <a:pt x="94" y="13"/>
                    <a:pt x="94" y="13"/>
                  </a:cubicBezTo>
                  <a:cubicBezTo>
                    <a:pt x="69" y="0"/>
                    <a:pt x="21" y="25"/>
                    <a:pt x="7" y="47"/>
                  </a:cubicBezTo>
                  <a:cubicBezTo>
                    <a:pt x="0" y="57"/>
                    <a:pt x="1" y="64"/>
                    <a:pt x="1" y="68"/>
                  </a:cubicBezTo>
                  <a:cubicBezTo>
                    <a:pt x="3" y="278"/>
                    <a:pt x="3" y="278"/>
                    <a:pt x="3" y="278"/>
                  </a:cubicBezTo>
                  <a:cubicBezTo>
                    <a:pt x="3" y="282"/>
                    <a:pt x="9" y="288"/>
                    <a:pt x="14" y="291"/>
                  </a:cubicBezTo>
                  <a:cubicBezTo>
                    <a:pt x="24" y="297"/>
                    <a:pt x="175" y="392"/>
                    <a:pt x="179" y="394"/>
                  </a:cubicBezTo>
                  <a:cubicBezTo>
                    <a:pt x="181" y="396"/>
                    <a:pt x="184" y="396"/>
                    <a:pt x="187" y="396"/>
                  </a:cubicBezTo>
                  <a:cubicBezTo>
                    <a:pt x="189" y="396"/>
                    <a:pt x="191" y="396"/>
                    <a:pt x="193" y="395"/>
                  </a:cubicBezTo>
                  <a:cubicBezTo>
                    <a:pt x="198" y="393"/>
                    <a:pt x="201" y="388"/>
                    <a:pt x="201" y="384"/>
                  </a:cubicBezTo>
                  <a:cubicBezTo>
                    <a:pt x="201" y="164"/>
                    <a:pt x="201" y="164"/>
                    <a:pt x="201" y="164"/>
                  </a:cubicBezTo>
                  <a:cubicBezTo>
                    <a:pt x="201" y="159"/>
                    <a:pt x="198" y="155"/>
                    <a:pt x="194" y="152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2" y="57"/>
                    <a:pt x="39" y="50"/>
                    <a:pt x="53" y="43"/>
                  </a:cubicBezTo>
                  <a:cubicBezTo>
                    <a:pt x="67" y="36"/>
                    <a:pt x="77" y="38"/>
                    <a:pt x="80" y="39"/>
                  </a:cubicBezTo>
                  <a:cubicBezTo>
                    <a:pt x="80" y="39"/>
                    <a:pt x="237" y="123"/>
                    <a:pt x="242" y="126"/>
                  </a:cubicBezTo>
                  <a:cubicBezTo>
                    <a:pt x="246" y="128"/>
                    <a:pt x="246" y="129"/>
                    <a:pt x="246" y="133"/>
                  </a:cubicBezTo>
                  <a:cubicBezTo>
                    <a:pt x="246" y="137"/>
                    <a:pt x="246" y="342"/>
                    <a:pt x="246" y="342"/>
                  </a:cubicBezTo>
                  <a:cubicBezTo>
                    <a:pt x="246" y="352"/>
                    <a:pt x="257" y="356"/>
                    <a:pt x="265" y="356"/>
                  </a:cubicBezTo>
                  <a:cubicBezTo>
                    <a:pt x="272" y="356"/>
                    <a:pt x="281" y="349"/>
                    <a:pt x="281" y="342"/>
                  </a:cubicBezTo>
                  <a:cubicBezTo>
                    <a:pt x="281" y="117"/>
                    <a:pt x="281" y="117"/>
                    <a:pt x="281" y="117"/>
                  </a:cubicBezTo>
                  <a:cubicBezTo>
                    <a:pt x="281" y="112"/>
                    <a:pt x="278" y="108"/>
                    <a:pt x="274" y="1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6" name="Content Placeholder 2"/>
          <p:cNvSpPr txBox="1">
            <a:spLocks/>
          </p:cNvSpPr>
          <p:nvPr/>
        </p:nvSpPr>
        <p:spPr>
          <a:xfrm>
            <a:off x="1532587" y="3231802"/>
            <a:ext cx="2229657" cy="675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1400" b="1" dirty="0">
                <a:solidFill>
                  <a:srgbClr val="FF0000"/>
                </a:solidFill>
              </a:rPr>
              <a:t>Analizar</a:t>
            </a:r>
            <a:r>
              <a:rPr lang="es-PE" sz="1400" b="1" dirty="0">
                <a:solidFill>
                  <a:schemeClr val="bg1">
                    <a:lumMod val="50000"/>
                  </a:schemeClr>
                </a:solidFill>
              </a:rPr>
              <a:t> componentes/tecnologías/información/supuestos/escenarios </a:t>
            </a:r>
            <a:r>
              <a:rPr lang="es-PE" sz="1400" b="1" dirty="0">
                <a:solidFill>
                  <a:srgbClr val="FF0000"/>
                </a:solidFill>
              </a:rPr>
              <a:t>que permita contribuir en el cumplimiento del OG.</a:t>
            </a:r>
            <a:endParaRPr lang="es-PE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3762243" y="5329624"/>
            <a:ext cx="2243495" cy="1367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1200" b="1" dirty="0">
                <a:solidFill>
                  <a:srgbClr val="FF0000"/>
                </a:solidFill>
              </a:rPr>
              <a:t>Diseñar</a:t>
            </a:r>
            <a:r>
              <a:rPr lang="es-PE" sz="1200" b="1" dirty="0">
                <a:solidFill>
                  <a:schemeClr val="bg1">
                    <a:lumMod val="50000"/>
                  </a:schemeClr>
                </a:solidFill>
              </a:rPr>
              <a:t> el modelo/arquitectura  lógica-física/propuesta tecnológica/ arquitectura tecnología-redes/</a:t>
            </a:r>
            <a:r>
              <a:rPr lang="es-PE" sz="1200" b="1" dirty="0" err="1">
                <a:solidFill>
                  <a:schemeClr val="bg1">
                    <a:lumMod val="50000"/>
                  </a:schemeClr>
                </a:solidFill>
              </a:rPr>
              <a:t>mock</a:t>
            </a:r>
            <a:r>
              <a:rPr lang="es-PE" sz="1200" b="1" dirty="0">
                <a:solidFill>
                  <a:schemeClr val="bg1">
                    <a:lumMod val="50000"/>
                  </a:schemeClr>
                </a:solidFill>
              </a:rPr>
              <a:t>-up </a:t>
            </a:r>
            <a:r>
              <a:rPr lang="es-PE" sz="1200" b="1" dirty="0">
                <a:solidFill>
                  <a:srgbClr val="FF0000"/>
                </a:solidFill>
              </a:rPr>
              <a:t>que permita contribuir en el cumplimiento del OG.</a:t>
            </a:r>
            <a:endParaRPr lang="es-PE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8644925" y="5329625"/>
            <a:ext cx="2113604" cy="1045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1200" b="1" dirty="0">
                <a:solidFill>
                  <a:srgbClr val="FF0000"/>
                </a:solidFill>
              </a:rPr>
              <a:t>Proponer</a:t>
            </a:r>
            <a:r>
              <a:rPr lang="es-PE" sz="1200" b="1" dirty="0">
                <a:solidFill>
                  <a:schemeClr val="bg1">
                    <a:lumMod val="50000"/>
                  </a:schemeClr>
                </a:solidFill>
              </a:rPr>
              <a:t> un plan de continuidad que garantice que la propuesta sea viable tanto tecnológicamente como financieramente en el tiempo.</a:t>
            </a: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6253662" y="2818905"/>
            <a:ext cx="2057400" cy="1116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1200" b="1" dirty="0">
                <a:solidFill>
                  <a:srgbClr val="FF0000"/>
                </a:solidFill>
              </a:rPr>
              <a:t>Validar </a:t>
            </a:r>
            <a:r>
              <a:rPr lang="es-PE" sz="1200" b="1" dirty="0">
                <a:solidFill>
                  <a:schemeClr val="bg1">
                    <a:lumMod val="50000"/>
                  </a:schemeClr>
                </a:solidFill>
              </a:rPr>
              <a:t>componentes/atributos/métricas/indicadores del modelo/arquitectura  lógica-física/propuesta tecnológica/ arquitectura tecnología-redes </a:t>
            </a:r>
            <a:r>
              <a:rPr lang="es-PE" sz="1200" b="1" dirty="0">
                <a:solidFill>
                  <a:srgbClr val="FF0000"/>
                </a:solidFill>
              </a:rPr>
              <a:t>en base a un escenario de prueba aplicando métricas de validación</a:t>
            </a:r>
            <a:r>
              <a:rPr lang="es-PE" sz="1200" b="1" dirty="0">
                <a:solidFill>
                  <a:schemeClr val="bg1">
                    <a:lumMod val="50000"/>
                  </a:schemeClr>
                </a:solidFill>
              </a:rPr>
              <a:t>    </a:t>
            </a: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1990203" y="5167490"/>
            <a:ext cx="1270229" cy="9233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4"/>
                </a:solidFill>
                <a:latin typeface="Source Sans Pro Light" pitchFamily="34" charset="0"/>
              </a:rPr>
              <a:t>01</a:t>
            </a:r>
          </a:p>
        </p:txBody>
      </p:sp>
      <p:sp>
        <p:nvSpPr>
          <p:cNvPr id="41" name="Title 1"/>
          <p:cNvSpPr txBox="1">
            <a:spLocks/>
          </p:cNvSpPr>
          <p:nvPr/>
        </p:nvSpPr>
        <p:spPr>
          <a:xfrm>
            <a:off x="6583897" y="5154612"/>
            <a:ext cx="1270229" cy="9233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2"/>
                </a:solidFill>
                <a:latin typeface="Source Sans Pro Light" pitchFamily="34" charset="0"/>
              </a:rPr>
              <a:t>03</a:t>
            </a: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4391423" y="3658763"/>
            <a:ext cx="1270229" cy="9233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Source Sans Pro Light" pitchFamily="34" charset="0"/>
              </a:rPr>
              <a:t>02</a:t>
            </a:r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8990412" y="3604900"/>
            <a:ext cx="1270229" cy="9233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1"/>
                </a:solidFill>
                <a:latin typeface="Source Sans Pro Light" pitchFamily="34" charset="0"/>
              </a:rPr>
              <a:t>04</a:t>
            </a:r>
          </a:p>
        </p:txBody>
      </p:sp>
      <p:grpSp>
        <p:nvGrpSpPr>
          <p:cNvPr id="44" name="Group 6"/>
          <p:cNvGrpSpPr/>
          <p:nvPr/>
        </p:nvGrpSpPr>
        <p:grpSpPr>
          <a:xfrm>
            <a:off x="6253662" y="4533607"/>
            <a:ext cx="2057400" cy="588579"/>
            <a:chOff x="4410102" y="2634888"/>
            <a:chExt cx="2057400" cy="588579"/>
          </a:xfrm>
        </p:grpSpPr>
        <p:sp>
          <p:nvSpPr>
            <p:cNvPr id="45" name="Rounded Rectangle 58"/>
            <p:cNvSpPr/>
            <p:nvPr/>
          </p:nvSpPr>
          <p:spPr>
            <a:xfrm>
              <a:off x="4410102" y="2766267"/>
              <a:ext cx="2057400" cy="4572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ontent Placeholder 2"/>
            <p:cNvSpPr txBox="1">
              <a:spLocks/>
            </p:cNvSpPr>
            <p:nvPr/>
          </p:nvSpPr>
          <p:spPr>
            <a:xfrm>
              <a:off x="4871095" y="2865061"/>
              <a:ext cx="1337003" cy="27551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VALIDACIÓN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47" name="Isosceles Triangle 72"/>
            <p:cNvSpPr/>
            <p:nvPr/>
          </p:nvSpPr>
          <p:spPr>
            <a:xfrm>
              <a:off x="5299252" y="2634888"/>
              <a:ext cx="152400" cy="13137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10"/>
          <p:cNvGrpSpPr/>
          <p:nvPr/>
        </p:nvGrpSpPr>
        <p:grpSpPr>
          <a:xfrm>
            <a:off x="8596827" y="4665704"/>
            <a:ext cx="2113604" cy="590641"/>
            <a:chOff x="6264302" y="2766267"/>
            <a:chExt cx="2113604" cy="590641"/>
          </a:xfrm>
        </p:grpSpPr>
        <p:sp>
          <p:nvSpPr>
            <p:cNvPr id="49" name="Rounded Rectangle 61"/>
            <p:cNvSpPr/>
            <p:nvPr/>
          </p:nvSpPr>
          <p:spPr>
            <a:xfrm>
              <a:off x="6264302" y="2766267"/>
              <a:ext cx="2057400" cy="4572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ontent Placeholder 2"/>
            <p:cNvSpPr txBox="1">
              <a:spLocks/>
            </p:cNvSpPr>
            <p:nvPr/>
          </p:nvSpPr>
          <p:spPr>
            <a:xfrm>
              <a:off x="6781499" y="2865061"/>
              <a:ext cx="1596407" cy="27551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CONTINUIDAD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51" name="Isosceles Triangle 73"/>
            <p:cNvSpPr/>
            <p:nvPr/>
          </p:nvSpPr>
          <p:spPr>
            <a:xfrm flipV="1">
              <a:off x="7216802" y="3225529"/>
              <a:ext cx="152400" cy="131379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17"/>
            <p:cNvSpPr>
              <a:spLocks noEditPoints="1"/>
            </p:cNvSpPr>
            <p:nvPr/>
          </p:nvSpPr>
          <p:spPr bwMode="auto">
            <a:xfrm>
              <a:off x="6484944" y="2895572"/>
              <a:ext cx="246059" cy="198589"/>
            </a:xfrm>
            <a:custGeom>
              <a:avLst/>
              <a:gdLst>
                <a:gd name="T0" fmla="*/ 360 w 371"/>
                <a:gd name="T1" fmla="*/ 3 h 299"/>
                <a:gd name="T2" fmla="*/ 7 w 371"/>
                <a:gd name="T3" fmla="*/ 127 h 299"/>
                <a:gd name="T4" fmla="*/ 6 w 371"/>
                <a:gd name="T5" fmla="*/ 137 h 299"/>
                <a:gd name="T6" fmla="*/ 82 w 371"/>
                <a:gd name="T7" fmla="*/ 167 h 299"/>
                <a:gd name="T8" fmla="*/ 82 w 371"/>
                <a:gd name="T9" fmla="*/ 167 h 299"/>
                <a:gd name="T10" fmla="*/ 127 w 371"/>
                <a:gd name="T11" fmla="*/ 185 h 299"/>
                <a:gd name="T12" fmla="*/ 347 w 371"/>
                <a:gd name="T13" fmla="*/ 24 h 299"/>
                <a:gd name="T14" fmla="*/ 351 w 371"/>
                <a:gd name="T15" fmla="*/ 28 h 299"/>
                <a:gd name="T16" fmla="*/ 194 w 371"/>
                <a:gd name="T17" fmla="*/ 198 h 299"/>
                <a:gd name="T18" fmla="*/ 194 w 371"/>
                <a:gd name="T19" fmla="*/ 198 h 299"/>
                <a:gd name="T20" fmla="*/ 185 w 371"/>
                <a:gd name="T21" fmla="*/ 208 h 299"/>
                <a:gd name="T22" fmla="*/ 197 w 371"/>
                <a:gd name="T23" fmla="*/ 215 h 299"/>
                <a:gd name="T24" fmla="*/ 197 w 371"/>
                <a:gd name="T25" fmla="*/ 215 h 299"/>
                <a:gd name="T26" fmla="*/ 296 w 371"/>
                <a:gd name="T27" fmla="*/ 268 h 299"/>
                <a:gd name="T28" fmla="*/ 311 w 371"/>
                <a:gd name="T29" fmla="*/ 262 h 299"/>
                <a:gd name="T30" fmla="*/ 369 w 371"/>
                <a:gd name="T31" fmla="*/ 11 h 299"/>
                <a:gd name="T32" fmla="*/ 360 w 371"/>
                <a:gd name="T33" fmla="*/ 3 h 299"/>
                <a:gd name="T34" fmla="*/ 127 w 371"/>
                <a:gd name="T35" fmla="*/ 293 h 299"/>
                <a:gd name="T36" fmla="*/ 133 w 371"/>
                <a:gd name="T37" fmla="*/ 296 h 299"/>
                <a:gd name="T38" fmla="*/ 190 w 371"/>
                <a:gd name="T39" fmla="*/ 245 h 299"/>
                <a:gd name="T40" fmla="*/ 127 w 371"/>
                <a:gd name="T41" fmla="*/ 212 h 299"/>
                <a:gd name="T42" fmla="*/ 127 w 371"/>
                <a:gd name="T43" fmla="*/ 293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1" h="299">
                  <a:moveTo>
                    <a:pt x="360" y="3"/>
                  </a:moveTo>
                  <a:cubicBezTo>
                    <a:pt x="353" y="5"/>
                    <a:pt x="13" y="125"/>
                    <a:pt x="7" y="127"/>
                  </a:cubicBezTo>
                  <a:cubicBezTo>
                    <a:pt x="1" y="129"/>
                    <a:pt x="0" y="134"/>
                    <a:pt x="6" y="137"/>
                  </a:cubicBezTo>
                  <a:cubicBezTo>
                    <a:pt x="14" y="140"/>
                    <a:pt x="82" y="167"/>
                    <a:pt x="82" y="167"/>
                  </a:cubicBezTo>
                  <a:cubicBezTo>
                    <a:pt x="82" y="167"/>
                    <a:pt x="82" y="167"/>
                    <a:pt x="82" y="167"/>
                  </a:cubicBezTo>
                  <a:cubicBezTo>
                    <a:pt x="127" y="185"/>
                    <a:pt x="127" y="185"/>
                    <a:pt x="127" y="185"/>
                  </a:cubicBezTo>
                  <a:cubicBezTo>
                    <a:pt x="127" y="185"/>
                    <a:pt x="344" y="26"/>
                    <a:pt x="347" y="24"/>
                  </a:cubicBezTo>
                  <a:cubicBezTo>
                    <a:pt x="350" y="22"/>
                    <a:pt x="353" y="26"/>
                    <a:pt x="351" y="28"/>
                  </a:cubicBezTo>
                  <a:cubicBezTo>
                    <a:pt x="349" y="30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85" y="208"/>
                    <a:pt x="185" y="208"/>
                    <a:pt x="185" y="208"/>
                  </a:cubicBezTo>
                  <a:cubicBezTo>
                    <a:pt x="197" y="215"/>
                    <a:pt x="197" y="215"/>
                    <a:pt x="197" y="215"/>
                  </a:cubicBezTo>
                  <a:cubicBezTo>
                    <a:pt x="197" y="215"/>
                    <a:pt x="197" y="215"/>
                    <a:pt x="197" y="215"/>
                  </a:cubicBezTo>
                  <a:cubicBezTo>
                    <a:pt x="197" y="215"/>
                    <a:pt x="290" y="265"/>
                    <a:pt x="296" y="268"/>
                  </a:cubicBezTo>
                  <a:cubicBezTo>
                    <a:pt x="302" y="272"/>
                    <a:pt x="310" y="269"/>
                    <a:pt x="311" y="262"/>
                  </a:cubicBezTo>
                  <a:cubicBezTo>
                    <a:pt x="313" y="253"/>
                    <a:pt x="368" y="16"/>
                    <a:pt x="369" y="11"/>
                  </a:cubicBezTo>
                  <a:cubicBezTo>
                    <a:pt x="371" y="4"/>
                    <a:pt x="367" y="0"/>
                    <a:pt x="360" y="3"/>
                  </a:cubicBezTo>
                  <a:close/>
                  <a:moveTo>
                    <a:pt x="127" y="293"/>
                  </a:moveTo>
                  <a:cubicBezTo>
                    <a:pt x="127" y="298"/>
                    <a:pt x="130" y="299"/>
                    <a:pt x="133" y="296"/>
                  </a:cubicBezTo>
                  <a:cubicBezTo>
                    <a:pt x="138" y="291"/>
                    <a:pt x="190" y="245"/>
                    <a:pt x="190" y="245"/>
                  </a:cubicBezTo>
                  <a:cubicBezTo>
                    <a:pt x="127" y="212"/>
                    <a:pt x="127" y="212"/>
                    <a:pt x="127" y="212"/>
                  </a:cubicBezTo>
                  <a:lnTo>
                    <a:pt x="127" y="2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53" name="Gráfico 14" descr="Marca de verificación">
            <a:extLst>
              <a:ext uri="{FF2B5EF4-FFF2-40B4-BE49-F238E27FC236}">
                <a16:creationId xmlns:a16="http://schemas.microsoft.com/office/drawing/2014/main" id="{A9ECC655-82CD-4CEC-B4B6-F5DEB1F75A8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3209" y="4814961"/>
            <a:ext cx="173409" cy="173409"/>
          </a:xfrm>
          <a:prstGeom prst="rect">
            <a:avLst/>
          </a:prstGeom>
        </p:spPr>
      </p:pic>
      <p:pic>
        <p:nvPicPr>
          <p:cNvPr id="54" name="Gráfico 14" descr="Marca de verificación">
            <a:extLst>
              <a:ext uri="{FF2B5EF4-FFF2-40B4-BE49-F238E27FC236}">
                <a16:creationId xmlns:a16="http://schemas.microsoft.com/office/drawing/2014/main" id="{A9ECC655-82CD-4CEC-B4B6-F5DEB1F75A8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5999" y="4824886"/>
            <a:ext cx="173409" cy="173409"/>
          </a:xfrm>
          <a:prstGeom prst="rect">
            <a:avLst/>
          </a:prstGeom>
        </p:spPr>
      </p:pic>
      <p:sp>
        <p:nvSpPr>
          <p:cNvPr id="55" name="Title 1"/>
          <p:cNvSpPr txBox="1">
            <a:spLocks/>
          </p:cNvSpPr>
          <p:nvPr/>
        </p:nvSpPr>
        <p:spPr>
          <a:xfrm>
            <a:off x="1055647" y="1547431"/>
            <a:ext cx="10080706" cy="10895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es-PE" sz="2400" dirty="0">
                <a:solidFill>
                  <a:schemeClr val="tx2"/>
                </a:solidFill>
              </a:rPr>
              <a:t>OG:</a:t>
            </a:r>
            <a:r>
              <a:rPr lang="en-US" altLang="es-PE" sz="2400" dirty="0">
                <a:solidFill>
                  <a:srgbClr val="FF0000"/>
                </a:solidFill>
              </a:rPr>
              <a:t> </a:t>
            </a:r>
            <a:r>
              <a:rPr lang="es-PE" altLang="es-PE" sz="2400" dirty="0">
                <a:solidFill>
                  <a:srgbClr val="FF0000"/>
                </a:solidFill>
              </a:rPr>
              <a:t>Implementar </a:t>
            </a:r>
            <a:r>
              <a:rPr lang="es-PE" altLang="es-PE" sz="2400" dirty="0">
                <a:solidFill>
                  <a:schemeClr val="tx2"/>
                </a:solidFill>
              </a:rPr>
              <a:t>solución tecnológica (incluye app) /modelo referencial/metodología/</a:t>
            </a:r>
            <a:r>
              <a:rPr lang="es-PE" altLang="es-PE" sz="2400" dirty="0" err="1">
                <a:solidFill>
                  <a:schemeClr val="tx2"/>
                </a:solidFill>
              </a:rPr>
              <a:t>roapmap</a:t>
            </a:r>
            <a:r>
              <a:rPr lang="es-PE" altLang="es-PE" sz="2400" dirty="0">
                <a:solidFill>
                  <a:schemeClr val="tx2"/>
                </a:solidFill>
              </a:rPr>
              <a:t> </a:t>
            </a:r>
            <a:r>
              <a:rPr lang="es-PE" altLang="es-PE" sz="2400" dirty="0">
                <a:solidFill>
                  <a:srgbClr val="FF0000"/>
                </a:solidFill>
              </a:rPr>
              <a:t>que permita mejorar una problemática en algún campo de aplicación.</a:t>
            </a:r>
            <a:r>
              <a:rPr lang="es-PE" altLang="es-PE" sz="2400" dirty="0">
                <a:solidFill>
                  <a:schemeClr val="tx2"/>
                </a:solidFill>
              </a:rPr>
              <a:t> 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9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36323" y="201132"/>
            <a:ext cx="7005521" cy="7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OE1: Analizar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3D35B64-DEA2-44EA-A580-1B42A298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683" y="1802842"/>
            <a:ext cx="3314241" cy="4585925"/>
          </a:xfrm>
          <a:prstGeom prst="rect">
            <a:avLst/>
          </a:prstGeom>
        </p:spPr>
      </p:pic>
      <p:sp>
        <p:nvSpPr>
          <p:cNvPr id="59" name="Rectángulo 58">
            <a:extLst>
              <a:ext uri="{FF2B5EF4-FFF2-40B4-BE49-F238E27FC236}">
                <a16:creationId xmlns:a16="http://schemas.microsoft.com/office/drawing/2014/main" id="{866A7DF4-7CFA-4BF4-AED5-07A3B0EE0723}"/>
              </a:ext>
            </a:extLst>
          </p:cNvPr>
          <p:cNvSpPr/>
          <p:nvPr/>
        </p:nvSpPr>
        <p:spPr>
          <a:xfrm>
            <a:off x="2696583" y="1371685"/>
            <a:ext cx="180844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" b="1" dirty="0" err="1"/>
              <a:t>Revisión</a:t>
            </a:r>
            <a:r>
              <a:rPr lang="en-US" sz="1500" b="1" dirty="0"/>
              <a:t> </a:t>
            </a:r>
            <a:r>
              <a:rPr lang="en-US" sz="1500" b="1" dirty="0" err="1"/>
              <a:t>Sistemática</a:t>
            </a:r>
            <a:endParaRPr lang="es-PE" sz="1500" b="1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0294EB0F-F740-4808-B463-F0E322D9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135" y="0"/>
            <a:ext cx="1273865" cy="128741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58CDAA32-74DA-4F5C-A32F-0C93395D34CA}"/>
              </a:ext>
            </a:extLst>
          </p:cNvPr>
          <p:cNvSpPr txBox="1"/>
          <p:nvPr/>
        </p:nvSpPr>
        <p:spPr>
          <a:xfrm>
            <a:off x="2180617" y="6416680"/>
            <a:ext cx="33142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Fuente: </a:t>
            </a:r>
            <a:r>
              <a:rPr lang="es-PE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Systematic</a:t>
            </a:r>
            <a:r>
              <a:rPr lang="es-P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</a:t>
            </a:r>
            <a:r>
              <a:rPr lang="es-P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PE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s-P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PE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</a:t>
            </a:r>
            <a:r>
              <a:rPr lang="es-P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notions</a:t>
            </a:r>
            <a:endParaRPr lang="es-PE" sz="1000" dirty="0"/>
          </a:p>
        </p:txBody>
      </p:sp>
      <p:sp>
        <p:nvSpPr>
          <p:cNvPr id="51" name="Google Shape;218;g78220acf83_4_76">
            <a:extLst>
              <a:ext uri="{FF2B5EF4-FFF2-40B4-BE49-F238E27FC236}">
                <a16:creationId xmlns:a16="http://schemas.microsoft.com/office/drawing/2014/main" id="{E30311B2-F354-4058-ADE2-E1B676F799F4}"/>
              </a:ext>
            </a:extLst>
          </p:cNvPr>
          <p:cNvSpPr txBox="1"/>
          <p:nvPr/>
        </p:nvSpPr>
        <p:spPr>
          <a:xfrm>
            <a:off x="5257924" y="2067868"/>
            <a:ext cx="6697142" cy="253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lvl="0"/>
            <a:r>
              <a:rPr lang="es-PE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RQ1: ¿Qué métodos/metodologías/</a:t>
            </a:r>
            <a:r>
              <a:rPr lang="es-PE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frameworks</a:t>
            </a:r>
            <a:r>
              <a:rPr lang="es-PE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la minería de procesos se utilizan en el sector de salud? (PM + H)</a:t>
            </a:r>
          </a:p>
          <a:p>
            <a:pPr lvl="0"/>
            <a:endParaRPr lang="es-PE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/>
            <a:r>
              <a:rPr lang="es-PE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RQ2: ¿Qué técnicas se utilizan para proteger la privacidad de los datos en procesos optimizados mediante minería de procesos? (PM + DP)</a:t>
            </a:r>
          </a:p>
          <a:p>
            <a:pPr lvl="0"/>
            <a:endParaRPr lang="es-PE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/>
            <a:r>
              <a:rPr lang="es-PE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RQ3: ¿Qué técnicas o herramientas de privacidad de datos se aplican en los hospitales o clínicas? (DP + H)</a:t>
            </a:r>
          </a:p>
          <a:p>
            <a:pPr lvl="0"/>
            <a:endParaRPr lang="es-PE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/>
            <a:r>
              <a:rPr lang="es-PE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RQ4: ¿Qué estudios se han realizado con la disciplina de Minería de Procesos integrando técnicas de privacidad de datos en el sector salud? ( PM + DP + H)</a:t>
            </a:r>
          </a:p>
          <a:p>
            <a:pPr algn="just">
              <a:buClr>
                <a:srgbClr val="000000"/>
              </a:buClr>
              <a:buSzPts val="2000"/>
            </a:pPr>
            <a:r>
              <a:rPr lang="es-P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Rectangle 23">
            <a:extLst>
              <a:ext uri="{FF2B5EF4-FFF2-40B4-BE49-F238E27FC236}">
                <a16:creationId xmlns:a16="http://schemas.microsoft.com/office/drawing/2014/main" id="{D340FA65-5E36-4BCF-92EC-EE1895D4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1707014"/>
            <a:ext cx="1435496" cy="675646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</a:p>
        </p:txBody>
      </p:sp>
      <p:sp>
        <p:nvSpPr>
          <p:cNvPr id="53" name="Rectangle 23">
            <a:extLst>
              <a:ext uri="{FF2B5EF4-FFF2-40B4-BE49-F238E27FC236}">
                <a16:creationId xmlns:a16="http://schemas.microsoft.com/office/drawing/2014/main" id="{C6B149CA-CAB2-44C0-B941-FFE715E2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19" y="2661560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REVISIÓN DE LA LITERATURA</a:t>
            </a:r>
          </a:p>
        </p:txBody>
      </p:sp>
      <p:sp>
        <p:nvSpPr>
          <p:cNvPr id="54" name="Rectangle 23">
            <a:extLst>
              <a:ext uri="{FF2B5EF4-FFF2-40B4-BE49-F238E27FC236}">
                <a16:creationId xmlns:a16="http://schemas.microsoft.com/office/drawing/2014/main" id="{E22EA97F-8180-436C-B9DB-763D5C2C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3616106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COMPARATAIVO</a:t>
            </a:r>
          </a:p>
        </p:txBody>
      </p:sp>
      <p:sp>
        <p:nvSpPr>
          <p:cNvPr id="55" name="Rectangle 23">
            <a:extLst>
              <a:ext uri="{FF2B5EF4-FFF2-40B4-BE49-F238E27FC236}">
                <a16:creationId xmlns:a16="http://schemas.microsoft.com/office/drawing/2014/main" id="{9B4C0D4D-A92A-42F1-B183-50F59C22E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4570652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TEÓRICO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2AD23BF9-F1E7-4FDD-B0FC-C106F33014FC}"/>
              </a:ext>
            </a:extLst>
          </p:cNvPr>
          <p:cNvCxnSpPr/>
          <p:nvPr/>
        </p:nvCxnSpPr>
        <p:spPr>
          <a:xfrm>
            <a:off x="704142" y="2382660"/>
            <a:ext cx="0" cy="27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7ED24F04-D3F6-4082-8347-3C690502DDB0}"/>
              </a:ext>
            </a:extLst>
          </p:cNvPr>
          <p:cNvCxnSpPr/>
          <p:nvPr/>
        </p:nvCxnSpPr>
        <p:spPr>
          <a:xfrm>
            <a:off x="704142" y="3337206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7D53B445-B6EA-4C4D-B17D-FF238BF76FD6}"/>
              </a:ext>
            </a:extLst>
          </p:cNvPr>
          <p:cNvCxnSpPr/>
          <p:nvPr/>
        </p:nvCxnSpPr>
        <p:spPr>
          <a:xfrm>
            <a:off x="699293" y="4291752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3">
            <a:extLst>
              <a:ext uri="{FF2B5EF4-FFF2-40B4-BE49-F238E27FC236}">
                <a16:creationId xmlns:a16="http://schemas.microsoft.com/office/drawing/2014/main" id="{4760D730-A8E1-41D7-AB9F-42D5EE239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25198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DEL PROBLEMA</a:t>
            </a:r>
            <a:endParaRPr lang="es-PE" sz="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4F56C35-2063-4373-A473-4E86F31074AB}"/>
              </a:ext>
            </a:extLst>
          </p:cNvPr>
          <p:cNvCxnSpPr/>
          <p:nvPr/>
        </p:nvCxnSpPr>
        <p:spPr>
          <a:xfrm>
            <a:off x="699644" y="5246298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416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36323" y="201132"/>
            <a:ext cx="7005521" cy="7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OE1: Analizar</a:t>
            </a:r>
          </a:p>
        </p:txBody>
      </p:sp>
      <p:sp>
        <p:nvSpPr>
          <p:cNvPr id="46" name="Rectangle 23">
            <a:extLst>
              <a:ext uri="{FF2B5EF4-FFF2-40B4-BE49-F238E27FC236}">
                <a16:creationId xmlns:a16="http://schemas.microsoft.com/office/drawing/2014/main" id="{02630E21-B3C8-4564-AE57-F6ABD851D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1707014"/>
            <a:ext cx="1435496" cy="675646"/>
          </a:xfrm>
          <a:prstGeom prst="rect">
            <a:avLst/>
          </a:prstGeom>
          <a:solidFill>
            <a:schemeClr val="tx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E21EC63C-3DF7-4AC9-A9EC-B79A51EAA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419" y="2661560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REVISIÓN DE LA LITERATURA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C3C777D3-A1D2-4C72-BF42-826FE3DA0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3616106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COMPARATAIVO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2960683E-1492-48B0-B362-A8373CDDB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" y="4570652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TEÓRICO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6A88C4B9-D583-4938-B86B-01F3D8E78540}"/>
              </a:ext>
            </a:extLst>
          </p:cNvPr>
          <p:cNvCxnSpPr/>
          <p:nvPr/>
        </p:nvCxnSpPr>
        <p:spPr>
          <a:xfrm>
            <a:off x="704142" y="2382660"/>
            <a:ext cx="0" cy="27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16BE357B-534D-4FA2-B8DC-487A387CCC91}"/>
              </a:ext>
            </a:extLst>
          </p:cNvPr>
          <p:cNvCxnSpPr/>
          <p:nvPr/>
        </p:nvCxnSpPr>
        <p:spPr>
          <a:xfrm>
            <a:off x="704142" y="3337206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78F79DEE-57AB-4459-BEB3-40BEF07CA36B}"/>
              </a:ext>
            </a:extLst>
          </p:cNvPr>
          <p:cNvCxnSpPr/>
          <p:nvPr/>
        </p:nvCxnSpPr>
        <p:spPr>
          <a:xfrm>
            <a:off x="699293" y="4291752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3">
            <a:extLst>
              <a:ext uri="{FF2B5EF4-FFF2-40B4-BE49-F238E27FC236}">
                <a16:creationId xmlns:a16="http://schemas.microsoft.com/office/drawing/2014/main" id="{059BFC45-1100-431B-8DED-7F5E9381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25198"/>
            <a:ext cx="1435496" cy="675646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52111" tIns="26055" rIns="52111" bIns="2605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buNone/>
            </a:pPr>
            <a:r>
              <a:rPr lang="es-PE" sz="9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IDENTIFICACIÓN DEL PROBLEMA</a:t>
            </a:r>
            <a:endParaRPr lang="es-PE" sz="9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C832CB8-8EB3-4C23-8612-D94ADD884DA0}"/>
              </a:ext>
            </a:extLst>
          </p:cNvPr>
          <p:cNvCxnSpPr/>
          <p:nvPr/>
        </p:nvCxnSpPr>
        <p:spPr>
          <a:xfrm>
            <a:off x="699644" y="5246298"/>
            <a:ext cx="0" cy="27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Imagen 43">
            <a:extLst>
              <a:ext uri="{FF2B5EF4-FFF2-40B4-BE49-F238E27FC236}">
                <a16:creationId xmlns:a16="http://schemas.microsoft.com/office/drawing/2014/main" id="{0294EB0F-F740-4808-B463-F0E322D9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35" y="0"/>
            <a:ext cx="1273865" cy="1287417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AEFB1EA-3F8E-482E-935A-5246EE021D5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387" y="903504"/>
            <a:ext cx="5335905" cy="3067685"/>
          </a:xfrm>
          <a:prstGeom prst="rect">
            <a:avLst/>
          </a:prstGeom>
          <a:noFill/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18D2A259-315A-4C93-8CC6-FDF744064B1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485" y="4127972"/>
            <a:ext cx="5385435" cy="2337435"/>
          </a:xfrm>
          <a:prstGeom prst="rect">
            <a:avLst/>
          </a:prstGeom>
          <a:noFill/>
        </p:spPr>
      </p:pic>
      <p:graphicFrame>
        <p:nvGraphicFramePr>
          <p:cNvPr id="52" name="Tabla 51">
            <a:extLst>
              <a:ext uri="{FF2B5EF4-FFF2-40B4-BE49-F238E27FC236}">
                <a16:creationId xmlns:a16="http://schemas.microsoft.com/office/drawing/2014/main" id="{D8E605BC-0D5E-4258-8719-589BB1E9F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665328"/>
              </p:ext>
            </p:extLst>
          </p:nvPr>
        </p:nvGraphicFramePr>
        <p:xfrm>
          <a:off x="7771427" y="4492112"/>
          <a:ext cx="3448050" cy="1858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3411504758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102918159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100">
                          <a:effectLst/>
                        </a:rPr>
                        <a:t>BASE DE DATOS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100" dirty="0">
                          <a:effectLst/>
                        </a:rPr>
                        <a:t>ARTÍCULOS SELECCIONADOS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49599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IEEE Explore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43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96270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Scopus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26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19976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Web of Science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8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51255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>
                          <a:effectLst/>
                        </a:rPr>
                        <a:t>TOTAL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PE" sz="1400" dirty="0">
                          <a:effectLst/>
                        </a:rPr>
                        <a:t>77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0405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99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141032-64E6-4BAC-9E9B-3B4E351A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" y="78375"/>
            <a:ext cx="10515600" cy="815474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rgbClr val="FF0000"/>
                </a:solidFill>
              </a:rPr>
              <a:t>OE1: Análisis Comparativo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93CEB32-DB55-424E-8FD8-BE8CF5CF8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93713"/>
              </p:ext>
            </p:extLst>
          </p:nvPr>
        </p:nvGraphicFramePr>
        <p:xfrm>
          <a:off x="289559" y="893849"/>
          <a:ext cx="11503932" cy="5718741"/>
        </p:xfrm>
        <a:graphic>
          <a:graphicData uri="http://schemas.openxmlformats.org/drawingml/2006/table">
            <a:tbl>
              <a:tblPr/>
              <a:tblGrid>
                <a:gridCol w="807721">
                  <a:extLst>
                    <a:ext uri="{9D8B030D-6E8A-4147-A177-3AD203B41FA5}">
                      <a16:colId xmlns:a16="http://schemas.microsoft.com/office/drawing/2014/main" val="20447478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3314876106"/>
                    </a:ext>
                  </a:extLst>
                </a:gridCol>
                <a:gridCol w="757646">
                  <a:extLst>
                    <a:ext uri="{9D8B030D-6E8A-4147-A177-3AD203B41FA5}">
                      <a16:colId xmlns:a16="http://schemas.microsoft.com/office/drawing/2014/main" val="3424907632"/>
                    </a:ext>
                  </a:extLst>
                </a:gridCol>
                <a:gridCol w="927463">
                  <a:extLst>
                    <a:ext uri="{9D8B030D-6E8A-4147-A177-3AD203B41FA5}">
                      <a16:colId xmlns:a16="http://schemas.microsoft.com/office/drawing/2014/main" val="359393837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38660165"/>
                    </a:ext>
                  </a:extLst>
                </a:gridCol>
                <a:gridCol w="6021977">
                  <a:extLst>
                    <a:ext uri="{9D8B030D-6E8A-4147-A177-3AD203B41FA5}">
                      <a16:colId xmlns:a16="http://schemas.microsoft.com/office/drawing/2014/main" val="3270971332"/>
                    </a:ext>
                  </a:extLst>
                </a:gridCol>
                <a:gridCol w="990508">
                  <a:extLst>
                    <a:ext uri="{9D8B030D-6E8A-4147-A177-3AD203B41FA5}">
                      <a16:colId xmlns:a16="http://schemas.microsoft.com/office/drawing/2014/main" val="2837054645"/>
                    </a:ext>
                  </a:extLst>
                </a:gridCol>
              </a:tblGrid>
              <a:tr h="1614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RESULTADOS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INFORMACIÓN</a:t>
                      </a:r>
                      <a:endParaRPr lang="es-PE" sz="1050" b="1" i="0" u="none" strike="noStrike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55126"/>
                  </a:ext>
                </a:extLst>
              </a:tr>
              <a:tr h="1614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Algoritmos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Aptitud/Ajuste(f)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Precisión(p)</a:t>
                      </a:r>
                      <a:endParaRPr lang="es-PE" sz="1050" b="1" i="0" u="none" strike="noStrike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Simplicidad(s)</a:t>
                      </a:r>
                      <a:endParaRPr lang="es-PE" sz="1050" b="1" i="0" u="none" strike="noStrike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Generalización(g)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Descripción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Sector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402168"/>
                  </a:ext>
                </a:extLst>
              </a:tr>
              <a:tr h="29066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Alpha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0.934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0.614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0.942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0.871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una red de Petri. Rápido, pero los resultados no siempre son confiables debido a problemas de sobreajuste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Aalst, W.,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Weijters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T., &amp;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Maruster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L. (2004).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Workflow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discovering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process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models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from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event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logs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. IEEE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Transactions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Knowledge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And Data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Engineering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16(9), 1128-1142.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doi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10.1109/tkde.2004.47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Retail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54804"/>
                  </a:ext>
                </a:extLst>
              </a:tr>
              <a:tr h="34575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Financiero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157885"/>
                  </a:ext>
                </a:extLst>
              </a:tr>
              <a:tr h="290665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Heuristic</a:t>
                      </a:r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0.95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0.96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0.81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una red heurística utilizando un enfoque probabilístico. Bueno cuando se trata de ruido. Rápido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Aalst, W.,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Weijters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T., &amp;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Maruster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L. (2003).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Rediscovering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workflow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models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from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event-based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data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using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little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thumb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Integrated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Computer-Aided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Engineering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10(2), 151-162.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Retail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880142"/>
                  </a:ext>
                </a:extLst>
              </a:tr>
              <a:tr h="29066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Salud / Sanitario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1883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Financiero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810630"/>
                  </a:ext>
                </a:extLst>
              </a:tr>
              <a:tr h="55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Inductive</a:t>
                      </a:r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0.81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0.81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0.83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0.92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 árbol de procesos o una red de Petri. Bueno cuando se trata de comportamiento infrecuente y grandes registros. La solidez está garantizada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Leemans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S.,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Fahland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D., &amp;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Aalst, W. (2013).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Discovering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Block-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Structured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Process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Models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from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Event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Logs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- A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Constructive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Approach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Application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Theory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Of Petri Nets And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Concurrency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311-329.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doi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10.1007/978-3-642-38697-8_17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Salud / Sanitario</a:t>
                      </a:r>
                      <a:endParaRPr lang="es-PE" sz="1050" b="0" i="0" u="none" strike="noStrike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167445"/>
                  </a:ext>
                </a:extLst>
              </a:tr>
              <a:tr h="430334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Genetic</a:t>
                      </a:r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0.94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0.85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0.73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0.68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una red heurística utilizando algoritmos genéticos. Dependiendo de la configuración de los parámetros, puede ser lento o rápido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Aalst, W., de Medeiros, A., &amp;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Weijters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A. (2005).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Genetic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Process Mining.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Applications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Theory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Of Petri Nets 2005, 48-69.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doi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10.1007/11494744_5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Salud / Sanitario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176283"/>
                  </a:ext>
                </a:extLst>
              </a:tr>
              <a:tr h="30953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Retail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5579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Financiero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61491"/>
                  </a:ext>
                </a:extLst>
              </a:tr>
              <a:tr h="2603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Evolutionary</a:t>
                      </a:r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Tree</a:t>
                      </a:r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0.93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0.96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0.92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 árbol de procesos usando algoritmos genéticos guiados basados ​​en las dimensiones de calidad del modelo. Garantiza la solidez pero no puede representar todos los comportamientos posibles debido a su naturaleza estructurada por bloques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Buijs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J.,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Dongen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B., &amp;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Aalst, W. (2012).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Role of Fitness,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Precision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Generalization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Simplicity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in Process Discovery.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On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Move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Meaningful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Internet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Systems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OTM 2012, 305-322.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doi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10.1007/978-3-642-33606-5_19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Financiero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873871"/>
                  </a:ext>
                </a:extLst>
              </a:tr>
              <a:tr h="30485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Fuzzy</a:t>
                      </a:r>
                      <a:r>
                        <a:rPr lang="es-PE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5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0.95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0.90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0.89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0.95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 modelo borroso que es el indicado cuando se trata de un comportamiento no estructurado. Es de rápida ejecución y representa la gran parte de casuísticas.</a:t>
                      </a:r>
                    </a:p>
                    <a:p>
                      <a:pPr algn="l" fontAlgn="ctr"/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Chamorro Ahumada, M., &amp; Maturana Valderrama, S. (2014). Método para Aplicar Minería de Procesos a la Distribución de Bebestibles No Alcohólicos. JCC, 1(1), 1-9.</a:t>
                      </a: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Retail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536637"/>
                  </a:ext>
                </a:extLst>
              </a:tr>
              <a:tr h="527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b="1" u="none" strike="noStrike" dirty="0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ILP </a:t>
                      </a:r>
                      <a:r>
                        <a:rPr lang="es-PE" sz="1050" b="1" u="none" strike="noStrike" dirty="0" err="1">
                          <a:solidFill>
                            <a:schemeClr val="bg1"/>
                          </a:solidFill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Miner</a:t>
                      </a:r>
                      <a:endParaRPr lang="es-PE" sz="1050" b="1" i="0" u="none" strike="noStrike" dirty="0">
                        <a:solidFill>
                          <a:schemeClr val="bg1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1.00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0.63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0.89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0.84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l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Descubre una Red de Petri al resolver problemas de Programación Lineal </a:t>
                      </a:r>
                      <a:r>
                        <a:rPr lang="es-PE" sz="105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Integer</a:t>
                      </a:r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(ILP). El resultado tiene una aptitud perfecta, pero en general una precisión deficiente. Lento en registros grandes</a:t>
                      </a: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b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</a:b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Fuente: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Werf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J., van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Dongen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B.,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Hurkens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C., &amp;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Serebrenik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, A. (2008). Process Discovery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Using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Integer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Linear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Programming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Applications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And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Theory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 Of Petri Nets, 368-387. </a:t>
                      </a:r>
                      <a:r>
                        <a:rPr lang="es-PE" sz="1000" u="none" strike="noStrike" dirty="0" err="1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doi</a:t>
                      </a:r>
                      <a:r>
                        <a:rPr lang="es-PE" sz="100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: 10.1007/978-3-540-68746-7_24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050" u="none" strike="noStrike" dirty="0">
                          <a:effectLst/>
                          <a:latin typeface="Solano Gothic MVB Lt" panose="02000606030000020004" pitchFamily="50" charset="0"/>
                          <a:cs typeface="Calibri" panose="020F0502020204030204" pitchFamily="34" charset="0"/>
                        </a:rPr>
                        <a:t>Financiero</a:t>
                      </a:r>
                      <a:endParaRPr lang="es-PE" sz="105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  <a:cs typeface="Calibri" panose="020F0502020204030204" pitchFamily="34" charset="0"/>
                      </a:endParaRPr>
                    </a:p>
                  </a:txBody>
                  <a:tcPr marL="2432" marR="2432" marT="2432" marB="1459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95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26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141032-64E6-4BAC-9E9B-3B4E351A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" y="78375"/>
            <a:ext cx="10515600" cy="815474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OE1: Análisis Comparativo de Herramientas</a:t>
            </a:r>
            <a:endParaRPr lang="es-PE" sz="4000" b="1" dirty="0">
              <a:solidFill>
                <a:srgbClr val="EEA40A"/>
              </a:solidFill>
              <a:latin typeface="Solano Gothic MVB Std Cap" panose="02000506030000020004" pitchFamily="50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5B95837-2B7C-4322-9BB3-CE3AC32EE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61217"/>
              </p:ext>
            </p:extLst>
          </p:nvPr>
        </p:nvGraphicFramePr>
        <p:xfrm>
          <a:off x="294967" y="1361189"/>
          <a:ext cx="11513575" cy="4852797"/>
        </p:xfrm>
        <a:graphic>
          <a:graphicData uri="http://schemas.openxmlformats.org/drawingml/2006/table">
            <a:tbl>
              <a:tblPr/>
              <a:tblGrid>
                <a:gridCol w="1022557">
                  <a:extLst>
                    <a:ext uri="{9D8B030D-6E8A-4147-A177-3AD203B41FA5}">
                      <a16:colId xmlns:a16="http://schemas.microsoft.com/office/drawing/2014/main" val="2288186621"/>
                    </a:ext>
                  </a:extLst>
                </a:gridCol>
                <a:gridCol w="1052051">
                  <a:extLst>
                    <a:ext uri="{9D8B030D-6E8A-4147-A177-3AD203B41FA5}">
                      <a16:colId xmlns:a16="http://schemas.microsoft.com/office/drawing/2014/main" val="1454417225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201790972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651000672"/>
                    </a:ext>
                  </a:extLst>
                </a:gridCol>
                <a:gridCol w="766916">
                  <a:extLst>
                    <a:ext uri="{9D8B030D-6E8A-4147-A177-3AD203B41FA5}">
                      <a16:colId xmlns:a16="http://schemas.microsoft.com/office/drawing/2014/main" val="3588410429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4086043404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3906371831"/>
                    </a:ext>
                  </a:extLst>
                </a:gridCol>
                <a:gridCol w="658762">
                  <a:extLst>
                    <a:ext uri="{9D8B030D-6E8A-4147-A177-3AD203B41FA5}">
                      <a16:colId xmlns:a16="http://schemas.microsoft.com/office/drawing/2014/main" val="1019646247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1893168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8550569"/>
                    </a:ext>
                  </a:extLst>
                </a:gridCol>
                <a:gridCol w="963561">
                  <a:extLst>
                    <a:ext uri="{9D8B030D-6E8A-4147-A177-3AD203B41FA5}">
                      <a16:colId xmlns:a16="http://schemas.microsoft.com/office/drawing/2014/main" val="2731318051"/>
                    </a:ext>
                  </a:extLst>
                </a:gridCol>
                <a:gridCol w="865239">
                  <a:extLst>
                    <a:ext uri="{9D8B030D-6E8A-4147-A177-3AD203B41FA5}">
                      <a16:colId xmlns:a16="http://schemas.microsoft.com/office/drawing/2014/main" val="2301798936"/>
                    </a:ext>
                  </a:extLst>
                </a:gridCol>
                <a:gridCol w="943896">
                  <a:extLst>
                    <a:ext uri="{9D8B030D-6E8A-4147-A177-3AD203B41FA5}">
                      <a16:colId xmlns:a16="http://schemas.microsoft.com/office/drawing/2014/main" val="2154849214"/>
                    </a:ext>
                  </a:extLst>
                </a:gridCol>
              </a:tblGrid>
              <a:tr h="11044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Herramienta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Soporte de Tipo de Importación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Capacidad (Cantidad de Registro de Eventos)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Notación del modelo de salida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Costo Mensual (</a:t>
                      </a:r>
                      <a:r>
                        <a:rPr lang="es-P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Dolares</a:t>
                      </a:r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)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Cantidad de Usuarios por Licencia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Tiempo Soporte (Meses)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Licencia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Plataforma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Filtrado datos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Visualización del proceso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Comparación de Procesos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Usabilidad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485088"/>
                  </a:ext>
                </a:extLst>
              </a:tr>
              <a:tr h="12885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ProM</a:t>
                      </a:r>
                      <a:endParaRPr lang="es-PE" sz="1400" b="0" i="0" u="none" strike="noStrike" dirty="0">
                        <a:solidFill>
                          <a:srgbClr val="FFFFFF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MXML, XES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Ilimitado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BPMN, Work Flow, Petri Nets, EPCs, Transition Systems, Heuristics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Free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Ilimitado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On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 </a:t>
                      </a:r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Premise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238615"/>
                  </a:ext>
                </a:extLst>
              </a:tr>
              <a:tr h="8032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Disco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CSV, XLS, </a:t>
                      </a:r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MXMl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, XES y FXL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5 Millones Eventos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Fuzzy model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$ 1618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1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Ilimitado (Vigencia del servicio)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On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 </a:t>
                      </a:r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Premise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28512"/>
                  </a:ext>
                </a:extLst>
              </a:tr>
              <a:tr h="8032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Celonis</a:t>
                      </a:r>
                      <a:endParaRPr lang="es-PE" sz="1400" b="0" i="0" u="none" strike="noStrike" dirty="0">
                        <a:solidFill>
                          <a:srgbClr val="FFFFFF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CSV, XLS,XES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Ilimitado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Fuzzy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 </a:t>
                      </a:r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model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$ 598 - 1929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1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Ilimitado (Vigencia del servicio)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On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 </a:t>
                      </a:r>
                      <a:r>
                        <a:rPr lang="es-PE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premise</a:t>
                      </a:r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/ SaaS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260261"/>
                  </a:ext>
                </a:extLst>
              </a:tr>
              <a:tr h="8534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QPR </a:t>
                      </a:r>
                      <a:r>
                        <a:rPr lang="es-PE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Process</a:t>
                      </a:r>
                      <a:r>
                        <a:rPr lang="es-PE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 </a:t>
                      </a:r>
                      <a:r>
                        <a:rPr lang="es-PE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Solano Gothic MVB Lt" panose="02000606030000020004" pitchFamily="50" charset="0"/>
                        </a:rPr>
                        <a:t>Analyzer</a:t>
                      </a:r>
                      <a:endParaRPr lang="es-PE" sz="1400" b="0" i="0" u="none" strike="noStrike" dirty="0">
                        <a:solidFill>
                          <a:srgbClr val="FFFFFF"/>
                        </a:solidFill>
                        <a:effectLst/>
                        <a:latin typeface="Solano Gothic MVB Lt" panose="02000606030000020004" pitchFamily="50" charset="0"/>
                      </a:endParaRP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XES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10 Millones Eventos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Work Flow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$ 1126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1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1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On Premise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-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algn="ctr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lano Gothic MVB Lt" panose="02000606030000020004" pitchFamily="50" charset="0"/>
                        </a:rPr>
                        <a:t>X</a:t>
                      </a:r>
                    </a:p>
                  </a:txBody>
                  <a:tcPr marL="4802" marR="4802" marT="4802" marB="28810" anchor="ctr">
                    <a:lnL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A4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18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19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740E418-3578-450A-8D83-068DA239847D}"/>
              </a:ext>
            </a:extLst>
          </p:cNvPr>
          <p:cNvSpPr txBox="1">
            <a:spLocks/>
          </p:cNvSpPr>
          <p:nvPr/>
        </p:nvSpPr>
        <p:spPr>
          <a:xfrm>
            <a:off x="3876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 2: Diseño de la Arquitectura Integrada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48" b="16485"/>
          <a:stretch/>
        </p:blipFill>
        <p:spPr>
          <a:xfrm>
            <a:off x="0" y="1496289"/>
            <a:ext cx="12192000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1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141032-64E6-4BAC-9E9B-3B4E351A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" y="248880"/>
            <a:ext cx="10515600" cy="594741"/>
          </a:xfrm>
        </p:spPr>
        <p:txBody>
          <a:bodyPr>
            <a:noAutofit/>
          </a:bodyPr>
          <a:lstStyle/>
          <a:p>
            <a:r>
              <a:rPr lang="es-PE" sz="4000" b="1" dirty="0">
                <a:solidFill>
                  <a:srgbClr val="FF0000"/>
                </a:solidFill>
              </a:rPr>
              <a:t>OE2: Arquitectura Lógica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7C7326-8C17-4D2D-9CFD-82822FCF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345" y="843621"/>
            <a:ext cx="5389819" cy="58853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1C7467-933E-4B4A-9E1A-A56A63BB1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726" y="31400"/>
            <a:ext cx="1299274" cy="129927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F089315-E502-4893-AA78-7C04B181440A}"/>
              </a:ext>
            </a:extLst>
          </p:cNvPr>
          <p:cNvSpPr txBox="1"/>
          <p:nvPr/>
        </p:nvSpPr>
        <p:spPr>
          <a:xfrm>
            <a:off x="8135024" y="6568134"/>
            <a:ext cx="405697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467">
                <a:solidFill>
                  <a:schemeClr val="bg1">
                    <a:lumMod val="50000"/>
                  </a:schemeClr>
                </a:solidFill>
              </a:rPr>
              <a:t>Fuente: </a:t>
            </a:r>
            <a:r>
              <a:rPr lang="en-US" sz="1467" err="1">
                <a:solidFill>
                  <a:schemeClr val="bg1">
                    <a:lumMod val="50000"/>
                  </a:schemeClr>
                </a:solidFill>
              </a:rPr>
              <a:t>Elaboración</a:t>
            </a:r>
            <a:r>
              <a:rPr lang="en-US" sz="1467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467" err="1">
                <a:solidFill>
                  <a:schemeClr val="bg1">
                    <a:lumMod val="50000"/>
                  </a:schemeClr>
                </a:solidFill>
              </a:rPr>
              <a:t>propia</a:t>
            </a:r>
            <a:endParaRPr lang="es-PE" sz="1467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02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0D44CE0-3BD1-4ACC-A4E3-5F9B0C893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8" y="60802"/>
            <a:ext cx="7573479" cy="679719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7A7AEFF-672A-48A3-9D21-898FF52638E7}"/>
              </a:ext>
            </a:extLst>
          </p:cNvPr>
          <p:cNvSpPr txBox="1">
            <a:spLocks/>
          </p:cNvSpPr>
          <p:nvPr/>
        </p:nvSpPr>
        <p:spPr>
          <a:xfrm>
            <a:off x="7792625" y="2066122"/>
            <a:ext cx="4273312" cy="1577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PE" sz="4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 2: Diseño de la Arquitectura por Capas</a:t>
            </a:r>
          </a:p>
        </p:txBody>
      </p:sp>
    </p:spTree>
    <p:extLst>
      <p:ext uri="{BB962C8B-B14F-4D97-AF65-F5344CB8AC3E}">
        <p14:creationId xmlns:p14="http://schemas.microsoft.com/office/powerpoint/2010/main" val="1042100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7740E418-3578-450A-8D83-068DA239847D}"/>
              </a:ext>
            </a:extLst>
          </p:cNvPr>
          <p:cNvSpPr txBox="1">
            <a:spLocks/>
          </p:cNvSpPr>
          <p:nvPr/>
        </p:nvSpPr>
        <p:spPr>
          <a:xfrm>
            <a:off x="345831" y="-108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 2: Diseño de la Arquitectura Física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2" y="1000125"/>
            <a:ext cx="9998075" cy="562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75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A7CEB-4D51-4171-BC9F-4D8B73834CD5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C11FF3-6D65-4687-A2DF-67EA3D92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61" y="963424"/>
            <a:ext cx="3087527" cy="525224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D5E263A-3EF2-45E2-84C8-031D5C6F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017" y="952250"/>
            <a:ext cx="3087528" cy="52634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F8356E-0268-4555-A20A-05FF9DCD75C8}"/>
              </a:ext>
            </a:extLst>
          </p:cNvPr>
          <p:cNvSpPr txBox="1"/>
          <p:nvPr/>
        </p:nvSpPr>
        <p:spPr>
          <a:xfrm>
            <a:off x="1489578" y="6288547"/>
            <a:ext cx="14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/>
              <a:t>Presentación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914FF4-E881-4750-BB9A-9ECCBD12A0E7}"/>
              </a:ext>
            </a:extLst>
          </p:cNvPr>
          <p:cNvSpPr txBox="1"/>
          <p:nvPr/>
        </p:nvSpPr>
        <p:spPr>
          <a:xfrm>
            <a:off x="5641888" y="6350168"/>
            <a:ext cx="68801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PE" dirty="0" err="1"/>
              <a:t>Login</a:t>
            </a:r>
            <a:endParaRPr lang="es-PE" dirty="0" err="1"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AF6F71-EA19-4A99-A888-AB63F9E31CFA}"/>
              </a:ext>
            </a:extLst>
          </p:cNvPr>
          <p:cNvSpPr txBox="1"/>
          <p:nvPr/>
        </p:nvSpPr>
        <p:spPr>
          <a:xfrm>
            <a:off x="8352574" y="6211669"/>
            <a:ext cx="308752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Notificación de comportamientos anormales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B33F88-A452-4057-97A4-BA774874C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573" y="931050"/>
            <a:ext cx="3087528" cy="52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89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9256497-8395-4BAA-850D-9AE4FDDA9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63" y="858888"/>
            <a:ext cx="3180992" cy="54353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8DD8CE-9A03-4E83-A463-D2034B7B4DA8}"/>
              </a:ext>
            </a:extLst>
          </p:cNvPr>
          <p:cNvSpPr txBox="1"/>
          <p:nvPr/>
        </p:nvSpPr>
        <p:spPr>
          <a:xfrm>
            <a:off x="1001305" y="6363664"/>
            <a:ext cx="257544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Reporte de contracciones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39D3FB-4EFC-4148-A05C-76CADD59C960}"/>
              </a:ext>
            </a:extLst>
          </p:cNvPr>
          <p:cNvSpPr/>
          <p:nvPr/>
        </p:nvSpPr>
        <p:spPr>
          <a:xfrm>
            <a:off x="5138767" y="6406796"/>
            <a:ext cx="2190728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s-PE" dirty="0"/>
              <a:t>Botón de emergencia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4A0B66-0BA6-4BE7-97C7-0508DF30F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936" y="843621"/>
            <a:ext cx="3180992" cy="545057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5E852E-9A81-4F43-8CE0-A27767244B0E}"/>
              </a:ext>
            </a:extLst>
          </p:cNvPr>
          <p:cNvSpPr txBox="1"/>
          <p:nvPr/>
        </p:nvSpPr>
        <p:spPr>
          <a:xfrm>
            <a:off x="8623255" y="6406796"/>
            <a:ext cx="272542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Configuración de ubicación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80FBF25-6A49-4BA3-A82E-5C21CC0AA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77" y="766150"/>
            <a:ext cx="3286227" cy="5592993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01D11D3-19F6-477F-B035-B0D3589B7C48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267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FD6C97-F4E1-463D-98FB-CC1A207BC212}"/>
              </a:ext>
            </a:extLst>
          </p:cNvPr>
          <p:cNvSpPr txBox="1"/>
          <p:nvPr/>
        </p:nvSpPr>
        <p:spPr>
          <a:xfrm>
            <a:off x="299462" y="6211669"/>
            <a:ext cx="430426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Aprobar/Rechazar acceso a ubicación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3D0E2E-2646-4A59-8081-5243D3C5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8" y="906405"/>
            <a:ext cx="2987748" cy="516871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2E0F54-4DE7-418B-B208-33ECCDAECCB6}"/>
              </a:ext>
            </a:extLst>
          </p:cNvPr>
          <p:cNvSpPr txBox="1"/>
          <p:nvPr/>
        </p:nvSpPr>
        <p:spPr>
          <a:xfrm>
            <a:off x="4721536" y="6216080"/>
            <a:ext cx="289624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 </a:t>
            </a:r>
            <a:r>
              <a:rPr lang="es-PE" dirty="0" err="1"/>
              <a:t>Dashboard</a:t>
            </a:r>
            <a:r>
              <a:rPr lang="es-PE" dirty="0"/>
              <a:t> de contracciones</a:t>
            </a:r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AD9B42-A260-4D32-92BD-72C3B79AF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534" y="843621"/>
            <a:ext cx="2987747" cy="528089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F1A0A7-B7F0-4B53-AF18-14D3751BCA0F}"/>
              </a:ext>
            </a:extLst>
          </p:cNvPr>
          <p:cNvSpPr txBox="1"/>
          <p:nvPr/>
        </p:nvSpPr>
        <p:spPr>
          <a:xfrm>
            <a:off x="9231080" y="6252101"/>
            <a:ext cx="184005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PE" dirty="0"/>
              <a:t>Lista de Pacientes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C7A917-916C-47AE-BD80-DF8D15981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397" y="843621"/>
            <a:ext cx="3019425" cy="53149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E798BBA-E1F0-40B4-9E0F-F82F8723E502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988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1455D65-4B18-4334-9EF5-2672EF8562E7}"/>
              </a:ext>
            </a:extLst>
          </p:cNvPr>
          <p:cNvSpPr txBox="1"/>
          <p:nvPr/>
        </p:nvSpPr>
        <p:spPr>
          <a:xfrm>
            <a:off x="4983429" y="6423490"/>
            <a:ext cx="284334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PE" dirty="0" err="1"/>
              <a:t>Dashboard</a:t>
            </a:r>
            <a:r>
              <a:rPr lang="es-PE" dirty="0"/>
              <a:t> de contracciones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D76AF3-BDC2-4313-9ECE-4EB53851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89" y="843621"/>
            <a:ext cx="7883421" cy="543623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39F9EA5-4996-49F6-9DF0-F6084BA81A5B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639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C3E651D-0DD6-4F0D-860B-EB355B0A4F5A}"/>
              </a:ext>
            </a:extLst>
          </p:cNvPr>
          <p:cNvSpPr txBox="1"/>
          <p:nvPr/>
        </p:nvSpPr>
        <p:spPr>
          <a:xfrm>
            <a:off x="5172474" y="6464152"/>
            <a:ext cx="184819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PE" dirty="0"/>
              <a:t>Lista de pacientes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F84504-C466-46B5-846B-93A82C5CF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69" y="858205"/>
            <a:ext cx="8084461" cy="560594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7AA23D0-C663-4021-A2BD-99E6C146FBB5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119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18F9EEB-ECCA-4FBD-92EB-604CCC911E82}"/>
              </a:ext>
            </a:extLst>
          </p:cNvPr>
          <p:cNvSpPr txBox="1"/>
          <p:nvPr/>
        </p:nvSpPr>
        <p:spPr>
          <a:xfrm>
            <a:off x="4580863" y="6399179"/>
            <a:ext cx="360855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PE" dirty="0"/>
              <a:t>Historial de contracciones (Obstetra)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5BFA26-54DD-4686-B1D1-17B3808C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52" y="843621"/>
            <a:ext cx="7808495" cy="5422254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27C367B-9A00-43D5-A2D2-1BA794697F1D}"/>
              </a:ext>
            </a:extLst>
          </p:cNvPr>
          <p:cNvSpPr txBox="1">
            <a:spLocks/>
          </p:cNvSpPr>
          <p:nvPr/>
        </p:nvSpPr>
        <p:spPr>
          <a:xfrm>
            <a:off x="140676" y="138059"/>
            <a:ext cx="10515600" cy="5947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4000" b="1" dirty="0">
                <a:solidFill>
                  <a:srgbClr val="FF0000"/>
                </a:solidFill>
              </a:rPr>
              <a:t>OE2: Diseño de las Interfaces de Usuario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912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captura de pantalla&#10;&#10;Descripción generada automáticamente">
            <a:extLst>
              <a:ext uri="{FF2B5EF4-FFF2-40B4-BE49-F238E27FC236}">
                <a16:creationId xmlns:a16="http://schemas.microsoft.com/office/drawing/2014/main" id="{785587A4-8C9D-45E6-B9F8-A54AA96C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7" y="792654"/>
            <a:ext cx="12070342" cy="606534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3A3C9B7-7655-4537-B80F-B86750443C2E}"/>
              </a:ext>
            </a:extLst>
          </p:cNvPr>
          <p:cNvSpPr txBox="1"/>
          <p:nvPr/>
        </p:nvSpPr>
        <p:spPr>
          <a:xfrm>
            <a:off x="231879" y="0"/>
            <a:ext cx="11891379" cy="954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419"/>
            </a:defPPr>
            <a:lvl1pPr algn="ctr">
              <a:defRPr sz="2000" b="1">
                <a:solidFill>
                  <a:srgbClr val="0091CB"/>
                </a:solidFill>
                <a:latin typeface="Solano Gothic MVB Std Cap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s-419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OE3 - Validación – Escenario de Prueba (Proceso de Negocio)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042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5"/>
          <p:cNvSpPr/>
          <p:nvPr/>
        </p:nvSpPr>
        <p:spPr>
          <a:xfrm>
            <a:off x="5141604" y="1395231"/>
            <a:ext cx="1934075" cy="665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3. Realizar la prueba de 5 metros.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9749540" y="1394886"/>
            <a:ext cx="1934075" cy="665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5. Generar un informe con los datos obtenidos.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7445572" y="1394887"/>
            <a:ext cx="1934075" cy="665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4. Asegurar que los datos hayan sido guardados en Firebase.</a:t>
            </a:r>
          </a:p>
        </p:txBody>
      </p:sp>
      <p:sp>
        <p:nvSpPr>
          <p:cNvPr id="10" name="Flecha derecha 9"/>
          <p:cNvSpPr/>
          <p:nvPr/>
        </p:nvSpPr>
        <p:spPr>
          <a:xfrm>
            <a:off x="3206973" y="2497908"/>
            <a:ext cx="681643" cy="1745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squina doblada 15"/>
          <p:cNvSpPr/>
          <p:nvPr/>
        </p:nvSpPr>
        <p:spPr>
          <a:xfrm>
            <a:off x="552498" y="2747640"/>
            <a:ext cx="1933423" cy="1537854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Raspberry Pi Model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Módem o celular</a:t>
            </a:r>
            <a:endParaRPr lang="en-US" sz="1400" b="1" dirty="0"/>
          </a:p>
        </p:txBody>
      </p:sp>
      <p:sp>
        <p:nvSpPr>
          <p:cNvPr id="17" name="Esquina doblada 16"/>
          <p:cNvSpPr/>
          <p:nvPr/>
        </p:nvSpPr>
        <p:spPr>
          <a:xfrm>
            <a:off x="2817060" y="2738977"/>
            <a:ext cx="1934075" cy="1537854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Infrared Speed Sensor (IRSS)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Force Sesing Resistor (FRS)</a:t>
            </a:r>
            <a:endParaRPr lang="en-US" sz="1400" b="1" dirty="0"/>
          </a:p>
        </p:txBody>
      </p:sp>
      <p:sp>
        <p:nvSpPr>
          <p:cNvPr id="18" name="Esquina doblada 17"/>
          <p:cNvSpPr/>
          <p:nvPr/>
        </p:nvSpPr>
        <p:spPr>
          <a:xfrm>
            <a:off x="5141048" y="2722345"/>
            <a:ext cx="1934075" cy="1537854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400" b="1" dirty="0"/>
              <a:t>Aplicación Móvil</a:t>
            </a:r>
            <a:endParaRPr lang="en-US" sz="1400" b="1" dirty="0"/>
          </a:p>
        </p:txBody>
      </p:sp>
      <p:sp>
        <p:nvSpPr>
          <p:cNvPr id="19" name="Esquina doblada 18"/>
          <p:cNvSpPr/>
          <p:nvPr/>
        </p:nvSpPr>
        <p:spPr>
          <a:xfrm>
            <a:off x="7445016" y="2734470"/>
            <a:ext cx="1934075" cy="1537854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400" b="1" dirty="0"/>
              <a:t>Aplicación Móvil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400" b="1" dirty="0"/>
              <a:t>Base de datos en Firebase</a:t>
            </a:r>
            <a:endParaRPr lang="en-US" sz="1400" b="1" dirty="0"/>
          </a:p>
        </p:txBody>
      </p:sp>
      <p:sp>
        <p:nvSpPr>
          <p:cNvPr id="20" name="Esquina doblada 19"/>
          <p:cNvSpPr/>
          <p:nvPr/>
        </p:nvSpPr>
        <p:spPr>
          <a:xfrm>
            <a:off x="9748984" y="2726157"/>
            <a:ext cx="1934075" cy="1537854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400" b="1" dirty="0"/>
              <a:t>Aplicación Móvil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400" b="1" dirty="0"/>
              <a:t>Excel</a:t>
            </a:r>
            <a:endParaRPr lang="en-US" sz="1400" b="1" dirty="0"/>
          </a:p>
        </p:txBody>
      </p:sp>
      <p:sp>
        <p:nvSpPr>
          <p:cNvPr id="21" name="Redondear rectángulo de esquina del mismo lado 20"/>
          <p:cNvSpPr/>
          <p:nvPr/>
        </p:nvSpPr>
        <p:spPr>
          <a:xfrm>
            <a:off x="552498" y="2502414"/>
            <a:ext cx="1933423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Herramientas</a:t>
            </a:r>
            <a:endParaRPr lang="en-US" sz="1200" b="1" dirty="0"/>
          </a:p>
        </p:txBody>
      </p:sp>
      <p:sp>
        <p:nvSpPr>
          <p:cNvPr id="22" name="Redondear rectángulo de esquina del mismo lado 21"/>
          <p:cNvSpPr/>
          <p:nvPr/>
        </p:nvSpPr>
        <p:spPr>
          <a:xfrm>
            <a:off x="2817060" y="2489595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Herramientas</a:t>
            </a:r>
            <a:endParaRPr lang="en-US" sz="1200" b="1" dirty="0"/>
          </a:p>
        </p:txBody>
      </p:sp>
      <p:sp>
        <p:nvSpPr>
          <p:cNvPr id="23" name="Redondear rectángulo de esquina del mismo lado 22"/>
          <p:cNvSpPr/>
          <p:nvPr/>
        </p:nvSpPr>
        <p:spPr>
          <a:xfrm>
            <a:off x="5141048" y="2477119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Herramientas</a:t>
            </a:r>
            <a:endParaRPr lang="en-US" sz="1200" b="1" dirty="0"/>
          </a:p>
        </p:txBody>
      </p:sp>
      <p:sp>
        <p:nvSpPr>
          <p:cNvPr id="24" name="Redondear rectángulo de esquina del mismo lado 23"/>
          <p:cNvSpPr/>
          <p:nvPr/>
        </p:nvSpPr>
        <p:spPr>
          <a:xfrm>
            <a:off x="7445016" y="2485088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Herramientas</a:t>
            </a:r>
            <a:endParaRPr lang="en-US" sz="1200" b="1" dirty="0"/>
          </a:p>
        </p:txBody>
      </p:sp>
      <p:sp>
        <p:nvSpPr>
          <p:cNvPr id="25" name="Redondear rectángulo de esquina del mismo lado 24"/>
          <p:cNvSpPr/>
          <p:nvPr/>
        </p:nvSpPr>
        <p:spPr>
          <a:xfrm>
            <a:off x="9748984" y="2485088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Herramientas</a:t>
            </a:r>
            <a:endParaRPr lang="en-US" sz="1200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07E680-F831-4EEA-A4C5-176941DC1570}"/>
              </a:ext>
            </a:extLst>
          </p:cNvPr>
          <p:cNvSpPr/>
          <p:nvPr/>
        </p:nvSpPr>
        <p:spPr>
          <a:xfrm>
            <a:off x="552499" y="4936811"/>
            <a:ext cx="1933422" cy="1279431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Raspberry Pi sincronizada y conectada a Firebase</a:t>
            </a:r>
          </a:p>
        </p:txBody>
      </p:sp>
      <p:sp>
        <p:nvSpPr>
          <p:cNvPr id="27" name="Redondear rectángulo de esquina del mismo lado 20">
            <a:extLst>
              <a:ext uri="{FF2B5EF4-FFF2-40B4-BE49-F238E27FC236}">
                <a16:creationId xmlns:a16="http://schemas.microsoft.com/office/drawing/2014/main" id="{D679FEEE-60A9-4FB0-BF55-9DFA44AC4668}"/>
              </a:ext>
            </a:extLst>
          </p:cNvPr>
          <p:cNvSpPr/>
          <p:nvPr/>
        </p:nvSpPr>
        <p:spPr>
          <a:xfrm>
            <a:off x="552498" y="4687086"/>
            <a:ext cx="1933421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Resultados</a:t>
            </a:r>
            <a:endParaRPr lang="en-US" sz="1200" b="1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DD4CB56-C1C6-4980-BB8C-3EA2ADE40F49}"/>
              </a:ext>
            </a:extLst>
          </p:cNvPr>
          <p:cNvSpPr/>
          <p:nvPr/>
        </p:nvSpPr>
        <p:spPr>
          <a:xfrm>
            <a:off x="2817060" y="4923993"/>
            <a:ext cx="1934075" cy="1249526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Ejecución del script sensores en Firebase</a:t>
            </a:r>
          </a:p>
        </p:txBody>
      </p:sp>
      <p:sp>
        <p:nvSpPr>
          <p:cNvPr id="29" name="Redondear rectángulo de esquina del mismo lado 20">
            <a:extLst>
              <a:ext uri="{FF2B5EF4-FFF2-40B4-BE49-F238E27FC236}">
                <a16:creationId xmlns:a16="http://schemas.microsoft.com/office/drawing/2014/main" id="{8C2B98DA-B872-4940-AA4B-50598BCD453F}"/>
              </a:ext>
            </a:extLst>
          </p:cNvPr>
          <p:cNvSpPr/>
          <p:nvPr/>
        </p:nvSpPr>
        <p:spPr>
          <a:xfrm>
            <a:off x="2817060" y="4674267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Resultados</a:t>
            </a:r>
            <a:endParaRPr lang="en-US" sz="1200" b="1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2547DC7-305C-47D9-B029-5C7DE5F8E8D5}"/>
              </a:ext>
            </a:extLst>
          </p:cNvPr>
          <p:cNvSpPr/>
          <p:nvPr/>
        </p:nvSpPr>
        <p:spPr>
          <a:xfrm>
            <a:off x="5141048" y="4911517"/>
            <a:ext cx="1934075" cy="1249526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Datos medidos por los sensores</a:t>
            </a:r>
          </a:p>
        </p:txBody>
      </p:sp>
      <p:sp>
        <p:nvSpPr>
          <p:cNvPr id="31" name="Redondear rectángulo de esquina del mismo lado 20">
            <a:extLst>
              <a:ext uri="{FF2B5EF4-FFF2-40B4-BE49-F238E27FC236}">
                <a16:creationId xmlns:a16="http://schemas.microsoft.com/office/drawing/2014/main" id="{05710AC7-EAAA-46B8-B5B3-10E4317075D1}"/>
              </a:ext>
            </a:extLst>
          </p:cNvPr>
          <p:cNvSpPr/>
          <p:nvPr/>
        </p:nvSpPr>
        <p:spPr>
          <a:xfrm>
            <a:off x="5141048" y="4661791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Resultados</a:t>
            </a:r>
            <a:endParaRPr lang="en-US" sz="1200" b="1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F46B01F-C965-4813-A7A9-AE0694DDA4E8}"/>
              </a:ext>
            </a:extLst>
          </p:cNvPr>
          <p:cNvSpPr/>
          <p:nvPr/>
        </p:nvSpPr>
        <p:spPr>
          <a:xfrm>
            <a:off x="7445016" y="4911173"/>
            <a:ext cx="1934075" cy="1249526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Datos de los sensores guardados en Firebase</a:t>
            </a:r>
          </a:p>
        </p:txBody>
      </p:sp>
      <p:sp>
        <p:nvSpPr>
          <p:cNvPr id="33" name="Redondear rectángulo de esquina del mismo lado 20">
            <a:extLst>
              <a:ext uri="{FF2B5EF4-FFF2-40B4-BE49-F238E27FC236}">
                <a16:creationId xmlns:a16="http://schemas.microsoft.com/office/drawing/2014/main" id="{4DFF6EF6-C636-47FF-AFFF-33F44DA615C1}"/>
              </a:ext>
            </a:extLst>
          </p:cNvPr>
          <p:cNvSpPr/>
          <p:nvPr/>
        </p:nvSpPr>
        <p:spPr>
          <a:xfrm>
            <a:off x="7445016" y="4661447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Resultados</a:t>
            </a:r>
            <a:endParaRPr lang="en-US" sz="1200" b="1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EE51A70-9EA1-4FE0-9E6F-DABC59A5253A}"/>
              </a:ext>
            </a:extLst>
          </p:cNvPr>
          <p:cNvSpPr/>
          <p:nvPr/>
        </p:nvSpPr>
        <p:spPr>
          <a:xfrm>
            <a:off x="9748984" y="4911173"/>
            <a:ext cx="1934075" cy="1249526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b="1" dirty="0"/>
              <a:t>Informe de la validación realizada</a:t>
            </a:r>
          </a:p>
        </p:txBody>
      </p:sp>
      <p:sp>
        <p:nvSpPr>
          <p:cNvPr id="35" name="Redondear rectángulo de esquina del mismo lado 20">
            <a:extLst>
              <a:ext uri="{FF2B5EF4-FFF2-40B4-BE49-F238E27FC236}">
                <a16:creationId xmlns:a16="http://schemas.microsoft.com/office/drawing/2014/main" id="{7306C975-4D7A-4C83-9E27-FD44B991C2C8}"/>
              </a:ext>
            </a:extLst>
          </p:cNvPr>
          <p:cNvSpPr/>
          <p:nvPr/>
        </p:nvSpPr>
        <p:spPr>
          <a:xfrm>
            <a:off x="9748984" y="4661447"/>
            <a:ext cx="1934075" cy="249382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Resultados</a:t>
            </a:r>
            <a:endParaRPr lang="en-US" sz="1200" b="1" dirty="0"/>
          </a:p>
        </p:txBody>
      </p:sp>
      <p:sp>
        <p:nvSpPr>
          <p:cNvPr id="36" name="Rectángulo redondeado 5">
            <a:extLst>
              <a:ext uri="{FF2B5EF4-FFF2-40B4-BE49-F238E27FC236}">
                <a16:creationId xmlns:a16="http://schemas.microsoft.com/office/drawing/2014/main" id="{48FB9D7B-234D-4E62-BDD0-2986073D3DF0}"/>
              </a:ext>
            </a:extLst>
          </p:cNvPr>
          <p:cNvSpPr/>
          <p:nvPr/>
        </p:nvSpPr>
        <p:spPr>
          <a:xfrm>
            <a:off x="2817060" y="1395231"/>
            <a:ext cx="1934075" cy="665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2. Calibrar sensores.</a:t>
            </a:r>
          </a:p>
        </p:txBody>
      </p:sp>
      <p:sp>
        <p:nvSpPr>
          <p:cNvPr id="38" name="Rectángulo redondeado 5">
            <a:extLst>
              <a:ext uri="{FF2B5EF4-FFF2-40B4-BE49-F238E27FC236}">
                <a16:creationId xmlns:a16="http://schemas.microsoft.com/office/drawing/2014/main" id="{816F22A1-FE46-40F1-9C5F-355ACE98C9E1}"/>
              </a:ext>
            </a:extLst>
          </p:cNvPr>
          <p:cNvSpPr/>
          <p:nvPr/>
        </p:nvSpPr>
        <p:spPr>
          <a:xfrm>
            <a:off x="552776" y="1408050"/>
            <a:ext cx="1934075" cy="665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b="1" dirty="0"/>
              <a:t>1. Configurar la conexión a Internet para el Raspberry Pi.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103DD41-4307-492A-94BC-567E351C4F09}"/>
              </a:ext>
            </a:extLst>
          </p:cNvPr>
          <p:cNvSpPr txBox="1"/>
          <p:nvPr/>
        </p:nvSpPr>
        <p:spPr>
          <a:xfrm>
            <a:off x="552498" y="-69311"/>
            <a:ext cx="9982980" cy="1249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419"/>
            </a:defPPr>
            <a:lvl1pPr algn="ctr">
              <a:defRPr sz="2000" b="1">
                <a:solidFill>
                  <a:srgbClr val="0091CB"/>
                </a:solidFill>
                <a:latin typeface="Solano Gothic MVB Std Cap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s-419" sz="37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OE3 - Validación – Proceso de implementación</a:t>
            </a:r>
            <a:endParaRPr lang="en-US" sz="37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8165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5F976F-9015-4D49-B317-57B54A5D49D9}"/>
              </a:ext>
            </a:extLst>
          </p:cNvPr>
          <p:cNvSpPr txBox="1"/>
          <p:nvPr/>
        </p:nvSpPr>
        <p:spPr>
          <a:xfrm>
            <a:off x="368397" y="187391"/>
            <a:ext cx="7959677" cy="856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419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EEA40A"/>
                </a:solidFill>
                <a:latin typeface="Solano Gothic MVB Std Cap"/>
                <a:ea typeface="+mj-ea"/>
                <a:cs typeface="+mj-cs"/>
              </a:defRPr>
            </a:lvl1pPr>
          </a:lstStyle>
          <a:p>
            <a:r>
              <a:rPr lang="es-419" sz="4000" dirty="0">
                <a:solidFill>
                  <a:srgbClr val="FF0000"/>
                </a:solidFill>
                <a:latin typeface="+mj-lt"/>
              </a:rPr>
              <a:t>OE3. Validación - Resultados</a:t>
            </a: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1A16240-DF74-4B33-981F-0C011895EC7E}"/>
              </a:ext>
            </a:extLst>
          </p:cNvPr>
          <p:cNvSpPr txBox="1"/>
          <p:nvPr/>
        </p:nvSpPr>
        <p:spPr>
          <a:xfrm>
            <a:off x="334991" y="1468857"/>
            <a:ext cx="3332672" cy="461665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PE" sz="2400" b="1" dirty="0">
                <a:solidFill>
                  <a:srgbClr val="EEA40A"/>
                </a:solidFill>
                <a:latin typeface="Calibri Light"/>
                <a:cs typeface="Calibri Light"/>
              </a:rPr>
              <a:t>CONDICIONES</a:t>
            </a:r>
            <a:endParaRPr lang="en-US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0B7D8F8-B392-4CF0-86B9-6FCD513965AD}"/>
              </a:ext>
            </a:extLst>
          </p:cNvPr>
          <p:cNvSpPr txBox="1"/>
          <p:nvPr/>
        </p:nvSpPr>
        <p:spPr>
          <a:xfrm>
            <a:off x="7359773" y="1468857"/>
            <a:ext cx="195244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PE" sz="2400" b="1" dirty="0">
                <a:solidFill>
                  <a:srgbClr val="EEA40A"/>
                </a:solidFill>
                <a:latin typeface="Calibri Light"/>
                <a:cs typeface="Calibri Light"/>
              </a:rPr>
              <a:t>INDICADORES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B47A8DE-18C0-4981-8890-06A674DB80A4}"/>
              </a:ext>
            </a:extLst>
          </p:cNvPr>
          <p:cNvSpPr txBox="1"/>
          <p:nvPr/>
        </p:nvSpPr>
        <p:spPr>
          <a:xfrm>
            <a:off x="10018146" y="1458436"/>
            <a:ext cx="1952446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PE" sz="2400" b="1" dirty="0">
                <a:solidFill>
                  <a:srgbClr val="EEA40A"/>
                </a:solidFill>
                <a:latin typeface="Calibri Light"/>
                <a:cs typeface="Calibri Light"/>
              </a:rPr>
              <a:t>RESULTADOS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F57481C-3A7A-4323-BDFC-FF20EDA80B36}"/>
              </a:ext>
            </a:extLst>
          </p:cNvPr>
          <p:cNvSpPr txBox="1"/>
          <p:nvPr/>
        </p:nvSpPr>
        <p:spPr>
          <a:xfrm>
            <a:off x="368397" y="2355484"/>
            <a:ext cx="3265860" cy="1323439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s-PE" sz="2000" b="1" dirty="0">
                <a:ea typeface="+mn-lt"/>
                <a:cs typeface="+mn-lt"/>
              </a:rPr>
              <a:t>Proceso:</a:t>
            </a:r>
            <a:endParaRPr lang="es-PE" sz="2000" dirty="0">
              <a:ea typeface="+mn-lt"/>
              <a:cs typeface="+mn-lt"/>
            </a:endParaRPr>
          </a:p>
          <a:p>
            <a:pPr lvl="1"/>
            <a:r>
              <a:rPr lang="es-PE" sz="2000" dirty="0">
                <a:ea typeface="+mn-lt"/>
                <a:cs typeface="+mn-lt"/>
              </a:rPr>
              <a:t>Monitoreo de terapia física</a:t>
            </a:r>
            <a:endParaRPr lang="es-PE" sz="2000" dirty="0">
              <a:cs typeface="Calibri"/>
            </a:endParaRPr>
          </a:p>
          <a:p>
            <a:pPr marL="285750" indent="-285750">
              <a:buFont typeface="Wingdings"/>
              <a:buChar char="q"/>
            </a:pPr>
            <a:r>
              <a:rPr lang="es-PE" sz="2000" b="1" dirty="0">
                <a:cs typeface="Calibri"/>
              </a:rPr>
              <a:t>Muestras:</a:t>
            </a:r>
            <a:r>
              <a:rPr lang="es-PE" sz="2000" dirty="0">
                <a:cs typeface="Calibri"/>
              </a:rPr>
              <a:t> 5 personas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4395B-4CC1-4E1A-B2C1-C4300983B3CD}"/>
              </a:ext>
            </a:extLst>
          </p:cNvPr>
          <p:cNvSpPr txBox="1"/>
          <p:nvPr/>
        </p:nvSpPr>
        <p:spPr>
          <a:xfrm>
            <a:off x="7072225" y="2417040"/>
            <a:ext cx="2527541" cy="1200329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PE" dirty="0">
                <a:cs typeface="Calibri"/>
              </a:rPr>
              <a:t>RTS%: Reducción del tiempo de sesión</a:t>
            </a:r>
          </a:p>
          <a:p>
            <a:r>
              <a:rPr lang="es-PE" dirty="0">
                <a:ea typeface="+mn-lt"/>
                <a:cs typeface="+mn-lt"/>
              </a:rPr>
              <a:t>RTS%: 1 - (TSS * 100% / TST)</a:t>
            </a:r>
            <a:endParaRPr lang="es-PE" dirty="0"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14F1163-5DD9-406B-B0B0-A5E99BEEAC77}"/>
              </a:ext>
            </a:extLst>
          </p:cNvPr>
          <p:cNvSpPr txBox="1"/>
          <p:nvPr/>
        </p:nvSpPr>
        <p:spPr>
          <a:xfrm>
            <a:off x="4479986" y="1468858"/>
            <a:ext cx="1549880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PE" sz="2400" b="1" dirty="0">
                <a:solidFill>
                  <a:srgbClr val="EEA40A"/>
                </a:solidFill>
                <a:latin typeface="Calibri Light"/>
                <a:cs typeface="Calibri Light"/>
              </a:rPr>
              <a:t>VARIABLES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53990634-CE2D-4C21-AEFB-1C9B167CE9B1}"/>
              </a:ext>
            </a:extLst>
          </p:cNvPr>
          <p:cNvSpPr txBox="1"/>
          <p:nvPr/>
        </p:nvSpPr>
        <p:spPr>
          <a:xfrm>
            <a:off x="3962401" y="2417040"/>
            <a:ext cx="2585049" cy="1200329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PE" dirty="0">
                <a:cs typeface="Calibri" panose="020F0502020204030204"/>
              </a:rPr>
              <a:t>TSS: Tiempo de sesión con la solución</a:t>
            </a:r>
          </a:p>
          <a:p>
            <a:pPr algn="just"/>
            <a:r>
              <a:rPr lang="es-PE" dirty="0">
                <a:cs typeface="Calibri" panose="020F0502020204030204"/>
              </a:rPr>
              <a:t>TST: Tiempo de sesión de terapia tradicional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50B7DD-A25A-4253-A2B6-C840DF1A5469}"/>
              </a:ext>
            </a:extLst>
          </p:cNvPr>
          <p:cNvSpPr txBox="1"/>
          <p:nvPr/>
        </p:nvSpPr>
        <p:spPr>
          <a:xfrm>
            <a:off x="10073137" y="2417040"/>
            <a:ext cx="1842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4000" b="1" dirty="0"/>
              <a:t>43%</a:t>
            </a:r>
          </a:p>
          <a:p>
            <a:pPr algn="ctr"/>
            <a:r>
              <a:rPr lang="es-419" sz="1600" b="1" dirty="0"/>
              <a:t>de reducción en el tiempo de sesión</a:t>
            </a:r>
            <a:endParaRPr lang="es-419" sz="1400" b="1" dirty="0"/>
          </a:p>
        </p:txBody>
      </p:sp>
    </p:spTree>
    <p:extLst>
      <p:ext uri="{BB962C8B-B14F-4D97-AF65-F5344CB8AC3E}">
        <p14:creationId xmlns:p14="http://schemas.microsoft.com/office/powerpoint/2010/main" val="3873320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831A7EB-3068-4660-8FC7-AE9593AA60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24257"/>
            <a:ext cx="5181600" cy="4351338"/>
          </a:xfrm>
        </p:spPr>
        <p:txBody>
          <a:bodyPr/>
          <a:lstStyle/>
          <a:p>
            <a:pPr marL="114300" indent="0">
              <a:buNone/>
            </a:pPr>
            <a:r>
              <a:rPr lang="es-PE"/>
              <a:t>2. Pruebas de aceptación de usuario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C44D7-1A42-4252-8631-C92D791E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394" y="1243612"/>
            <a:ext cx="5181600" cy="4351338"/>
          </a:xfrm>
        </p:spPr>
        <p:txBody>
          <a:bodyPr/>
          <a:lstStyle/>
          <a:p>
            <a:pPr marL="114300" indent="0">
              <a:buNone/>
            </a:pPr>
            <a:r>
              <a:rPr lang="es-PE"/>
              <a:t>1. Pruebas de Funcionalidad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0F632BD-48B7-4AEC-9F04-3EB9AE779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174" y="1899254"/>
            <a:ext cx="3064755" cy="336606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3460993-F5EC-4433-88BF-F9E3D1C7FB58}"/>
              </a:ext>
            </a:extLst>
          </p:cNvPr>
          <p:cNvSpPr/>
          <p:nvPr/>
        </p:nvSpPr>
        <p:spPr>
          <a:xfrm>
            <a:off x="954728" y="5345171"/>
            <a:ext cx="45960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>
                <a:latin typeface="Calibri" panose="020F0502020204030204" pitchFamily="34" charset="0"/>
                <a:cs typeface="Calibri" panose="020F0502020204030204" pitchFamily="34" charset="0"/>
              </a:rPr>
              <a:t>Validación y certificación de funcionalidades del producto por recurso de IT </a:t>
            </a:r>
            <a:r>
              <a:rPr lang="es-PE" sz="1600" err="1"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endParaRPr lang="es-PE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P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>
                <a:latin typeface="Calibri" panose="020F0502020204030204" pitchFamily="34" charset="0"/>
                <a:cs typeface="Calibri" panose="020F0502020204030204" pitchFamily="34" charset="0"/>
              </a:rPr>
              <a:t>Plan de pruebas (16 HU y 27 casos de pruebas)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8C0CC2-4614-4881-A991-04221D6DC424}"/>
              </a:ext>
            </a:extLst>
          </p:cNvPr>
          <p:cNvSpPr txBox="1"/>
          <p:nvPr/>
        </p:nvSpPr>
        <p:spPr>
          <a:xfrm>
            <a:off x="6201665" y="2205547"/>
            <a:ext cx="4841473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>
                <a:latin typeface="Calibri "/>
              </a:rPr>
              <a:t>Se realizó con 20 pacientes externos que usualmente reservan citas en consulta externa.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>
                <a:latin typeface="Calibri "/>
              </a:rPr>
              <a:t>Para las pruebas de aceptación, los pacientes emplearon un smartphone con sistema operativo </a:t>
            </a:r>
            <a:r>
              <a:rPr lang="es-MX" sz="1600" b="1">
                <a:latin typeface="Calibri "/>
              </a:rPr>
              <a:t>Android </a:t>
            </a:r>
            <a:r>
              <a:rPr lang="es-MX" sz="1600">
                <a:latin typeface="Calibri "/>
              </a:rPr>
              <a:t>y un </a:t>
            </a:r>
            <a:r>
              <a:rPr lang="es-MX" sz="1600" b="1">
                <a:latin typeface="Calibri "/>
              </a:rPr>
              <a:t>cronometro</a:t>
            </a:r>
            <a:r>
              <a:rPr lang="es-MX" sz="1600">
                <a:latin typeface="Calibri "/>
              </a:rPr>
              <a:t>.</a:t>
            </a:r>
            <a:endParaRPr lang="es-MX" sz="1200"/>
          </a:p>
        </p:txBody>
      </p:sp>
      <p:pic>
        <p:nvPicPr>
          <p:cNvPr id="12" name="Imagen 11" descr="Imagen que contiene persona, interior, mujer, sostener&#10;&#10;Descripción generada automáticamente">
            <a:extLst>
              <a:ext uri="{FF2B5EF4-FFF2-40B4-BE49-F238E27FC236}">
                <a16:creationId xmlns:a16="http://schemas.microsoft.com/office/drawing/2014/main" id="{52871DE9-9045-4F65-8E89-C1F054D1A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480" y="3701917"/>
            <a:ext cx="1317758" cy="1755913"/>
          </a:xfrm>
          <a:prstGeom prst="rect">
            <a:avLst/>
          </a:prstGeom>
        </p:spPr>
      </p:pic>
      <p:pic>
        <p:nvPicPr>
          <p:cNvPr id="13" name="Imagen 12" descr="Pantalla de televisión encendida con la imagen de una persona&#10;&#10;Descripción generada automáticamente">
            <a:extLst>
              <a:ext uri="{FF2B5EF4-FFF2-40B4-BE49-F238E27FC236}">
                <a16:creationId xmlns:a16="http://schemas.microsoft.com/office/drawing/2014/main" id="{B45BDBA7-425F-4B13-A2B4-195651145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253" y="4081640"/>
            <a:ext cx="2227698" cy="2284376"/>
          </a:xfrm>
          <a:prstGeom prst="rect">
            <a:avLst/>
          </a:prstGeom>
        </p:spPr>
      </p:pic>
      <p:pic>
        <p:nvPicPr>
          <p:cNvPr id="15" name="WhatsApp Video 2020-05-15 at 23.28.27">
            <a:hlinkClick r:id="" action="ppaction://media"/>
            <a:extLst>
              <a:ext uri="{FF2B5EF4-FFF2-40B4-BE49-F238E27FC236}">
                <a16:creationId xmlns:a16="http://schemas.microsoft.com/office/drawing/2014/main" id="{CE26979C-4403-4170-AFD6-ADFFD6B73F17}"/>
              </a:ext>
            </a:extLst>
          </p:cNvPr>
          <p:cNvPicPr>
            <a:picLocks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9348276" y="3520187"/>
            <a:ext cx="1496350" cy="2720636"/>
          </a:xfrm>
          <a:prstGeom prst="rect">
            <a:avLst/>
          </a:prstGeom>
        </p:spPr>
      </p:pic>
      <p:pic>
        <p:nvPicPr>
          <p:cNvPr id="16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EA0A31AB-11C0-4840-A5C4-90BBCEB94D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507" y="209166"/>
            <a:ext cx="1299274" cy="129927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404481C-1C00-4237-A776-DB99E7B6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767" y="320954"/>
            <a:ext cx="53767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PROCESO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339693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2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C44D7-1A42-4252-8631-C92D791E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394" y="1243612"/>
            <a:ext cx="5167037" cy="4351338"/>
          </a:xfrm>
        </p:spPr>
        <p:txBody>
          <a:bodyPr/>
          <a:lstStyle/>
          <a:p>
            <a:pPr marL="114300" indent="0">
              <a:buNone/>
            </a:pPr>
            <a:r>
              <a:rPr lang="es-PE"/>
              <a:t>3. Captura de Datos</a:t>
            </a:r>
          </a:p>
          <a:p>
            <a:pPr algn="just"/>
            <a:r>
              <a:rPr lang="es-MX" sz="1800">
                <a:latin typeface="Calibri "/>
              </a:rPr>
              <a:t>Se empleó </a:t>
            </a:r>
            <a:r>
              <a:rPr lang="es-MX" sz="1800" b="1">
                <a:latin typeface="Calibri "/>
              </a:rPr>
              <a:t>Microsoft </a:t>
            </a:r>
            <a:r>
              <a:rPr lang="es-MX" sz="1800" b="1" err="1">
                <a:latin typeface="Calibri "/>
              </a:rPr>
              <a:t>Forms</a:t>
            </a:r>
            <a:r>
              <a:rPr lang="es-MX" sz="1800" b="1">
                <a:latin typeface="Calibri "/>
              </a:rPr>
              <a:t> </a:t>
            </a:r>
            <a:r>
              <a:rPr lang="es-MX" sz="1800">
                <a:latin typeface="Calibri "/>
              </a:rPr>
              <a:t>para realizar la toma de datos (tiempo de reserva y tiempo de espera para la atención)  y encuesta de satisfacción. </a:t>
            </a:r>
          </a:p>
          <a:p>
            <a:pPr marL="114300" indent="0" algn="just">
              <a:buNone/>
            </a:pPr>
            <a:r>
              <a:rPr lang="es-MX">
                <a:latin typeface="Calibri "/>
              </a:rPr>
              <a:t>4. Análisis de Indicadores</a:t>
            </a:r>
          </a:p>
          <a:p>
            <a:pPr algn="just"/>
            <a:r>
              <a:rPr lang="es-MX" sz="1800">
                <a:latin typeface="Calibri "/>
              </a:rPr>
              <a:t>Se analizará los siguientes indicadores:</a:t>
            </a:r>
          </a:p>
          <a:p>
            <a:pPr marL="114300" indent="0">
              <a:buNone/>
            </a:pPr>
            <a:endParaRPr lang="es-PE"/>
          </a:p>
          <a:p>
            <a:pPr marL="114300" indent="0">
              <a:buNone/>
            </a:pPr>
            <a:endParaRPr lang="es-PE"/>
          </a:p>
        </p:txBody>
      </p:sp>
      <p:pic>
        <p:nvPicPr>
          <p:cNvPr id="16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EA0A31AB-11C0-4840-A5C4-90BBCEB94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507" y="45081"/>
            <a:ext cx="1299274" cy="129927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404481C-1C00-4237-A776-DB99E7B6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517" y="294011"/>
            <a:ext cx="53767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PROCESO DE VALIDACIÓN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4E9D166-E456-449D-BBAE-0945150B0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919" y="3970447"/>
            <a:ext cx="2227699" cy="2270376"/>
          </a:xfrm>
          <a:prstGeom prst="rect">
            <a:avLst/>
          </a:prstGeom>
        </p:spPr>
      </p:pic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C2FDDE3-59C8-43D2-8860-4A074B22E53C}"/>
              </a:ext>
            </a:extLst>
          </p:cNvPr>
          <p:cNvGraphicFramePr>
            <a:graphicFrameLocks noGrp="1"/>
          </p:cNvGraphicFramePr>
          <p:nvPr/>
        </p:nvGraphicFramePr>
        <p:xfrm>
          <a:off x="7049748" y="1243612"/>
          <a:ext cx="3261870" cy="823387"/>
        </p:xfrm>
        <a:graphic>
          <a:graphicData uri="http://schemas.openxmlformats.org/drawingml/2006/table">
            <a:tbl>
              <a:tblPr/>
              <a:tblGrid>
                <a:gridCol w="293587">
                  <a:extLst>
                    <a:ext uri="{9D8B030D-6E8A-4147-A177-3AD203B41FA5}">
                      <a16:colId xmlns:a16="http://schemas.microsoft.com/office/drawing/2014/main" val="479903093"/>
                    </a:ext>
                  </a:extLst>
                </a:gridCol>
                <a:gridCol w="2278967">
                  <a:extLst>
                    <a:ext uri="{9D8B030D-6E8A-4147-A177-3AD203B41FA5}">
                      <a16:colId xmlns:a16="http://schemas.microsoft.com/office/drawing/2014/main" val="2201777238"/>
                    </a:ext>
                  </a:extLst>
                </a:gridCol>
                <a:gridCol w="689316">
                  <a:extLst>
                    <a:ext uri="{9D8B030D-6E8A-4147-A177-3AD203B41FA5}">
                      <a16:colId xmlns:a16="http://schemas.microsoft.com/office/drawing/2014/main" val="3629762572"/>
                    </a:ext>
                  </a:extLst>
                </a:gridCol>
              </a:tblGrid>
              <a:tr h="25442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N°</a:t>
                      </a:r>
                      <a:endParaRPr lang="es-PE" sz="7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Indicadores antes de la Implementación de la Propuesta</a:t>
                      </a:r>
                      <a:endParaRPr lang="es-PE" sz="7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621354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Indicador</a:t>
                      </a:r>
                      <a:endParaRPr lang="es-PE" sz="7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Medida</a:t>
                      </a:r>
                      <a:endParaRPr lang="es-PE" sz="7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02167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Tiempo promedio de espera para la atención médica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144 horas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(6 días)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73971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Tiempo promedio de reserva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56 minutos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9989513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D1D5BEE7-D840-461F-BEED-E6AC202DC2E1}"/>
              </a:ext>
            </a:extLst>
          </p:cNvPr>
          <p:cNvGraphicFramePr>
            <a:graphicFrameLocks noGrp="1"/>
          </p:cNvGraphicFramePr>
          <p:nvPr/>
        </p:nvGraphicFramePr>
        <p:xfrm>
          <a:off x="7049748" y="2199099"/>
          <a:ext cx="3275938" cy="4411586"/>
        </p:xfrm>
        <a:graphic>
          <a:graphicData uri="http://schemas.openxmlformats.org/drawingml/2006/table">
            <a:tbl>
              <a:tblPr/>
              <a:tblGrid>
                <a:gridCol w="305322">
                  <a:extLst>
                    <a:ext uri="{9D8B030D-6E8A-4147-A177-3AD203B41FA5}">
                      <a16:colId xmlns:a16="http://schemas.microsoft.com/office/drawing/2014/main" val="292616794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3913945909"/>
                    </a:ext>
                  </a:extLst>
                </a:gridCol>
                <a:gridCol w="774446">
                  <a:extLst>
                    <a:ext uri="{9D8B030D-6E8A-4147-A177-3AD203B41FA5}">
                      <a16:colId xmlns:a16="http://schemas.microsoft.com/office/drawing/2014/main" val="4110799218"/>
                    </a:ext>
                  </a:extLst>
                </a:gridCol>
                <a:gridCol w="775333">
                  <a:extLst>
                    <a:ext uri="{9D8B030D-6E8A-4147-A177-3AD203B41FA5}">
                      <a16:colId xmlns:a16="http://schemas.microsoft.com/office/drawing/2014/main" val="1948360142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1154079407"/>
                    </a:ext>
                  </a:extLst>
                </a:gridCol>
              </a:tblGrid>
              <a:tr h="13922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N°</a:t>
                      </a:r>
                      <a:endParaRPr lang="es-PE" sz="7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Datos de muestra</a:t>
                      </a:r>
                      <a:endParaRPr lang="es-PE" sz="7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49476"/>
                  </a:ext>
                </a:extLst>
              </a:tr>
              <a:tr h="55961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Tiempo de espera para la atención (hora)</a:t>
                      </a:r>
                      <a:endParaRPr lang="es-PE" sz="7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Optimización de tiempo de espera</a:t>
                      </a:r>
                      <a:endParaRPr lang="es-PE" sz="7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Tiempo de reserva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(minuto)</a:t>
                      </a: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Optimización de tiempo de reserva</a:t>
                      </a:r>
                      <a:endParaRPr lang="es-PE" sz="7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925684835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98.26%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4.07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92.74%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907916582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98.61%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8.07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85.60%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582440343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3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96.53%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3.80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93.21%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992335835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4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99.31%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4.03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92.80%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773084494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99.31%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4.37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92.20%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661179090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6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97.92%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3.40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93.93%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57121491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6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95.83%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5.28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90.57%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604265256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8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96.88%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2.75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95.09%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311186307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9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99.31%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3.57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93.63%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455845004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10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95.14%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4.05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92.77%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3195607980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6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95.83%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4.18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92.53%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106058344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1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99.31%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4.55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91.88%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90852270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97.22%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3.65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93.48%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175939554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14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97.57%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3.13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94.40%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615840597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98.61%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4.05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92.77%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421522464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6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95.83%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4.25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92.41%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973854902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95.14%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5.00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91.07%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769398397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18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8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94.44%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2.02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96.40%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769839911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19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98.26%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2.07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96.31%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638516952"/>
                  </a:ext>
                </a:extLst>
              </a:tr>
              <a:tr h="1856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4.5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96.88%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2.02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PE" sz="700">
                          <a:effectLst/>
                        </a:rPr>
                        <a:t>96.40%</a:t>
                      </a:r>
                      <a:endParaRPr lang="es-PE" sz="7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350" marR="61350" marT="0" marB="0"/>
                </a:tc>
                <a:extLst>
                  <a:ext uri="{0D108BD9-81ED-4DB2-BD59-A6C34878D82A}">
                    <a16:rowId xmlns:a16="http://schemas.microsoft.com/office/drawing/2014/main" val="20995049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0F130981-32D7-468E-AA9E-417786CE8497}"/>
              </a:ext>
            </a:extLst>
          </p:cNvPr>
          <p:cNvSpPr txBox="1"/>
          <p:nvPr/>
        </p:nvSpPr>
        <p:spPr>
          <a:xfrm>
            <a:off x="10544507" y="4451669"/>
            <a:ext cx="100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/>
              <a:t>Datos de Muestra</a:t>
            </a:r>
          </a:p>
        </p:txBody>
      </p:sp>
    </p:spTree>
    <p:extLst>
      <p:ext uri="{BB962C8B-B14F-4D97-AF65-F5344CB8AC3E}">
        <p14:creationId xmlns:p14="http://schemas.microsoft.com/office/powerpoint/2010/main" val="164238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6F84667-1FAD-4A44-A7F1-79178D9F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04148"/>
            <a:ext cx="10515600" cy="1325563"/>
          </a:xfrm>
        </p:spPr>
        <p:txBody>
          <a:bodyPr/>
          <a:lstStyle/>
          <a:p>
            <a:pPr algn="ctr"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PROCESO DE VALIDACIÓN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7E99EA9-83A3-48DB-846E-C625D3EF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315892" cy="823912"/>
          </a:xfrm>
        </p:spPr>
        <p:txBody>
          <a:bodyPr/>
          <a:lstStyle/>
          <a:p>
            <a:pPr algn="ctr"/>
            <a:r>
              <a:rPr lang="es-PE">
                <a:solidFill>
                  <a:srgbClr val="CC9D48"/>
                </a:solidFill>
                <a:latin typeface="Solano Gothic MVB Std Cap" panose="02000506030000020004" pitchFamily="50" charset="0"/>
              </a:rPr>
              <a:t>IND01: TIEMPO PROMEDIO DE ESPERA PARA LA ATENCIÓN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5A3C1FC-EDFD-496B-8409-EEA1E9CC04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s-PE"/>
              <a:t>Antes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005D631-5A95-4083-B985-38F979E3B5D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s-PE"/>
              <a:t>Después</a:t>
            </a:r>
          </a:p>
        </p:txBody>
      </p:sp>
      <p:pic>
        <p:nvPicPr>
          <p:cNvPr id="10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BF80FF5E-C840-4D13-93EC-142174A5C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575" y="217139"/>
            <a:ext cx="1299274" cy="1299274"/>
          </a:xfrm>
          <a:prstGeom prst="rect">
            <a:avLst/>
          </a:prstGeom>
        </p:spPr>
      </p:pic>
      <p:pic>
        <p:nvPicPr>
          <p:cNvPr id="12" name="Picture 16">
            <a:extLst>
              <a:ext uri="{FF2B5EF4-FFF2-40B4-BE49-F238E27FC236}">
                <a16:creationId xmlns:a16="http://schemas.microsoft.com/office/drawing/2014/main" id="{3EBA7FC7-551F-4F55-9F75-7204C23644AC}"/>
              </a:ext>
            </a:extLst>
          </p:cNvPr>
          <p:cNvPicPr/>
          <p:nvPr/>
        </p:nvPicPr>
        <p:blipFill rotWithShape="1">
          <a:blip r:embed="rId3"/>
          <a:srcRect t="29906" r="10189"/>
          <a:stretch/>
        </p:blipFill>
        <p:spPr>
          <a:xfrm>
            <a:off x="1486270" y="3670052"/>
            <a:ext cx="3606751" cy="211131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38D1128-AAFA-4D76-94B3-82D93446F352}"/>
              </a:ext>
            </a:extLst>
          </p:cNvPr>
          <p:cNvSpPr txBox="1"/>
          <p:nvPr/>
        </p:nvSpPr>
        <p:spPr>
          <a:xfrm>
            <a:off x="2207866" y="3402791"/>
            <a:ext cx="297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Tiempo promedio de espera</a:t>
            </a:r>
          </a:p>
        </p:txBody>
      </p:sp>
      <p:sp>
        <p:nvSpPr>
          <p:cNvPr id="14" name="Google Shape;227;p5">
            <a:extLst>
              <a:ext uri="{FF2B5EF4-FFF2-40B4-BE49-F238E27FC236}">
                <a16:creationId xmlns:a16="http://schemas.microsoft.com/office/drawing/2014/main" id="{ECBFB10A-0072-40B9-AFD8-5CC51B819B3B}"/>
              </a:ext>
            </a:extLst>
          </p:cNvPr>
          <p:cNvSpPr txBox="1"/>
          <p:nvPr/>
        </p:nvSpPr>
        <p:spPr>
          <a:xfrm>
            <a:off x="1100545" y="5781367"/>
            <a:ext cx="4378200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PE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Fuente: SUSALUD (2016)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F4DCDC-A7CF-4B05-8BCE-086DC72A5122}"/>
              </a:ext>
            </a:extLst>
          </p:cNvPr>
          <p:cNvSpPr/>
          <p:nvPr/>
        </p:nvSpPr>
        <p:spPr>
          <a:xfrm>
            <a:off x="1680497" y="5198765"/>
            <a:ext cx="3006627" cy="582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EB84CC3-F3C9-48A8-97ED-0D1E1FBCD4D4}"/>
              </a:ext>
            </a:extLst>
          </p:cNvPr>
          <p:cNvSpPr/>
          <p:nvPr/>
        </p:nvSpPr>
        <p:spPr>
          <a:xfrm>
            <a:off x="839788" y="1487648"/>
            <a:ext cx="2531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es-PE" sz="3200">
                <a:latin typeface="Calibri" panose="020F0502020204030204" pitchFamily="34" charset="0"/>
                <a:cs typeface="Calibri" panose="020F0502020204030204" pitchFamily="34" charset="0"/>
              </a:rPr>
              <a:t>5. Resultados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842DE6-6A0D-45B9-96E2-099CD3543BA0}"/>
              </a:ext>
            </a:extLst>
          </p:cNvPr>
          <p:cNvSpPr txBox="1"/>
          <p:nvPr/>
        </p:nvSpPr>
        <p:spPr>
          <a:xfrm>
            <a:off x="7360759" y="3480439"/>
            <a:ext cx="297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Tiempo de espera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423BB1C-52F6-4FA4-AC13-1F38703DFD21}"/>
              </a:ext>
            </a:extLst>
          </p:cNvPr>
          <p:cNvSpPr/>
          <p:nvPr/>
        </p:nvSpPr>
        <p:spPr>
          <a:xfrm>
            <a:off x="7725636" y="3892023"/>
            <a:ext cx="2242716" cy="485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>
                <a:solidFill>
                  <a:schemeClr val="tx1"/>
                </a:solidFill>
              </a:rPr>
              <a:t>4 horas</a:t>
            </a:r>
            <a:endParaRPr lang="es-PE" sz="2400">
              <a:solidFill>
                <a:schemeClr val="tx1"/>
              </a:solidFill>
            </a:endParaRPr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5D9831C7-BAAE-42CF-A737-ECE0172F482C}"/>
              </a:ext>
            </a:extLst>
          </p:cNvPr>
          <p:cNvSpPr/>
          <p:nvPr/>
        </p:nvSpPr>
        <p:spPr>
          <a:xfrm>
            <a:off x="8618844" y="4521547"/>
            <a:ext cx="456299" cy="4289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ABD24-2D03-4771-820E-C9F33264B016}"/>
              </a:ext>
            </a:extLst>
          </p:cNvPr>
          <p:cNvSpPr/>
          <p:nvPr/>
        </p:nvSpPr>
        <p:spPr>
          <a:xfrm>
            <a:off x="7958715" y="5024639"/>
            <a:ext cx="216437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s-PE"/>
              <a:t>Disminuyó en  140 horas</a:t>
            </a:r>
          </a:p>
          <a:p>
            <a:pPr lvl="0" algn="ctr">
              <a:defRPr/>
            </a:pPr>
            <a:r>
              <a:rPr lang="es-PE"/>
              <a:t>(97,23 %) </a:t>
            </a:r>
          </a:p>
          <a:p>
            <a:pPr lvl="0" algn="ctr">
              <a:defRPr/>
            </a:pPr>
            <a:r>
              <a:rPr lang="es-PE"/>
              <a:t>el tiempo de espera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ED56C-708F-42C0-8F8C-0CED7258F959}"/>
              </a:ext>
            </a:extLst>
          </p:cNvPr>
          <p:cNvSpPr txBox="1"/>
          <p:nvPr/>
        </p:nvSpPr>
        <p:spPr>
          <a:xfrm>
            <a:off x="3422103" y="5361957"/>
            <a:ext cx="1033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>
                <a:solidFill>
                  <a:srgbClr val="FF0000"/>
                </a:solidFill>
              </a:rPr>
              <a:t>144 horas</a:t>
            </a:r>
          </a:p>
        </p:txBody>
      </p:sp>
    </p:spTree>
    <p:extLst>
      <p:ext uri="{BB962C8B-B14F-4D97-AF65-F5344CB8AC3E}">
        <p14:creationId xmlns:p14="http://schemas.microsoft.com/office/powerpoint/2010/main" val="1295081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6F84667-1FAD-4A44-A7F1-79178D9F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04148"/>
            <a:ext cx="10515600" cy="1325563"/>
          </a:xfrm>
        </p:spPr>
        <p:txBody>
          <a:bodyPr/>
          <a:lstStyle/>
          <a:p>
            <a:pPr algn="ctr"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PROCESO DE VALIDACIÓN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7E99EA9-83A3-48DB-846E-C625D3EF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315892" cy="823912"/>
          </a:xfrm>
        </p:spPr>
        <p:txBody>
          <a:bodyPr/>
          <a:lstStyle/>
          <a:p>
            <a:pPr algn="ctr"/>
            <a:r>
              <a:rPr lang="es-PE">
                <a:solidFill>
                  <a:srgbClr val="CC9D48"/>
                </a:solidFill>
                <a:latin typeface="Solano Gothic MVB Std Cap" panose="02000506030000020004" pitchFamily="50" charset="0"/>
              </a:rPr>
              <a:t>IND02: TIEMPO PROMEDIO DE RESERVA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5A3C1FC-EDFD-496B-8409-EEA1E9CC04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s-PE"/>
              <a:t>Antes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005D631-5A95-4083-B985-38F979E3B5D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s-PE"/>
              <a:t>Después</a:t>
            </a:r>
          </a:p>
        </p:txBody>
      </p:sp>
      <p:pic>
        <p:nvPicPr>
          <p:cNvPr id="10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BF80FF5E-C840-4D13-93EC-142174A5C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575" y="217139"/>
            <a:ext cx="1299274" cy="1299274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7EB84CC3-F3C9-48A8-97ED-0D1E1FBCD4D4}"/>
              </a:ext>
            </a:extLst>
          </p:cNvPr>
          <p:cNvSpPr/>
          <p:nvPr/>
        </p:nvSpPr>
        <p:spPr>
          <a:xfrm>
            <a:off x="839788" y="1487648"/>
            <a:ext cx="2531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es-PE" sz="3200">
                <a:latin typeface="Calibri" panose="020F0502020204030204" pitchFamily="34" charset="0"/>
                <a:cs typeface="Calibri" panose="020F0502020204030204" pitchFamily="34" charset="0"/>
              </a:rPr>
              <a:t>5. Resultados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563A91-A4A8-4EC2-8698-931B247BF967}"/>
              </a:ext>
            </a:extLst>
          </p:cNvPr>
          <p:cNvSpPr txBox="1"/>
          <p:nvPr/>
        </p:nvSpPr>
        <p:spPr>
          <a:xfrm>
            <a:off x="2105519" y="3453949"/>
            <a:ext cx="297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Tiempo de reserva por canal</a:t>
            </a:r>
          </a:p>
        </p:txBody>
      </p:sp>
      <p:sp>
        <p:nvSpPr>
          <p:cNvPr id="18" name="Google Shape;227;p5">
            <a:extLst>
              <a:ext uri="{FF2B5EF4-FFF2-40B4-BE49-F238E27FC236}">
                <a16:creationId xmlns:a16="http://schemas.microsoft.com/office/drawing/2014/main" id="{3C120438-2CC5-40BC-B7C7-57C1C5C9FCE5}"/>
              </a:ext>
            </a:extLst>
          </p:cNvPr>
          <p:cNvSpPr txBox="1"/>
          <p:nvPr/>
        </p:nvSpPr>
        <p:spPr>
          <a:xfrm>
            <a:off x="1100545" y="5465583"/>
            <a:ext cx="4378200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PE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Fuente: Elaboración Propia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" name="Tabla 24">
            <a:extLst>
              <a:ext uri="{FF2B5EF4-FFF2-40B4-BE49-F238E27FC236}">
                <a16:creationId xmlns:a16="http://schemas.microsoft.com/office/drawing/2014/main" id="{CAE8090F-5011-44F7-B7F7-02E0EFF9B844}"/>
              </a:ext>
            </a:extLst>
          </p:cNvPr>
          <p:cNvGraphicFramePr>
            <a:graphicFrameLocks noGrp="1"/>
          </p:cNvGraphicFramePr>
          <p:nvPr/>
        </p:nvGraphicFramePr>
        <p:xfrm>
          <a:off x="1739036" y="3972526"/>
          <a:ext cx="3338950" cy="1478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69475">
                  <a:extLst>
                    <a:ext uri="{9D8B030D-6E8A-4147-A177-3AD203B41FA5}">
                      <a16:colId xmlns:a16="http://schemas.microsoft.com/office/drawing/2014/main" val="3759579893"/>
                    </a:ext>
                  </a:extLst>
                </a:gridCol>
                <a:gridCol w="1669475">
                  <a:extLst>
                    <a:ext uri="{9D8B030D-6E8A-4147-A177-3AD203B41FA5}">
                      <a16:colId xmlns:a16="http://schemas.microsoft.com/office/drawing/2014/main" val="356131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Canales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Promedio (min)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2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Llamada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17 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258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Página web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8.75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039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Presencial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/>
                        <a:t>56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20048"/>
                  </a:ext>
                </a:extLst>
              </a:tr>
            </a:tbl>
          </a:graphicData>
        </a:graphic>
      </p:graphicFrame>
      <p:sp>
        <p:nvSpPr>
          <p:cNvPr id="20" name="Rectángulo 19">
            <a:extLst>
              <a:ext uri="{FF2B5EF4-FFF2-40B4-BE49-F238E27FC236}">
                <a16:creationId xmlns:a16="http://schemas.microsoft.com/office/drawing/2014/main" id="{6DA7C6B6-6442-4102-A343-05E12B13E0BE}"/>
              </a:ext>
            </a:extLst>
          </p:cNvPr>
          <p:cNvSpPr/>
          <p:nvPr/>
        </p:nvSpPr>
        <p:spPr>
          <a:xfrm>
            <a:off x="1394747" y="5027917"/>
            <a:ext cx="4083998" cy="380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74AEE9C-0F60-4B7B-9D3A-3AE54DC78DE1}"/>
              </a:ext>
            </a:extLst>
          </p:cNvPr>
          <p:cNvSpPr/>
          <p:nvPr/>
        </p:nvSpPr>
        <p:spPr>
          <a:xfrm>
            <a:off x="7723888" y="3904599"/>
            <a:ext cx="2242716" cy="4855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>
                <a:solidFill>
                  <a:schemeClr val="tx1"/>
                </a:solidFill>
              </a:rPr>
              <a:t>4 min</a:t>
            </a:r>
            <a:endParaRPr lang="es-PE" sz="2400">
              <a:solidFill>
                <a:schemeClr val="tx1"/>
              </a:solidFill>
            </a:endParaRPr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2D0434E3-0AD9-4344-A9A4-D2B6C47FD758}"/>
              </a:ext>
            </a:extLst>
          </p:cNvPr>
          <p:cNvSpPr/>
          <p:nvPr/>
        </p:nvSpPr>
        <p:spPr>
          <a:xfrm>
            <a:off x="8593154" y="4578149"/>
            <a:ext cx="456300" cy="429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4CA342B-ABCD-41F7-8D1E-8B40BDD3CFF7}"/>
              </a:ext>
            </a:extLst>
          </p:cNvPr>
          <p:cNvSpPr txBox="1"/>
          <p:nvPr/>
        </p:nvSpPr>
        <p:spPr>
          <a:xfrm>
            <a:off x="7563220" y="3413616"/>
            <a:ext cx="2972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Tiempo de reserva por app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300BA4F-F26E-4E15-A850-3C3E4C5844DE}"/>
              </a:ext>
            </a:extLst>
          </p:cNvPr>
          <p:cNvSpPr/>
          <p:nvPr/>
        </p:nvSpPr>
        <p:spPr>
          <a:xfrm>
            <a:off x="7747830" y="5131109"/>
            <a:ext cx="219483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s-PE"/>
              <a:t>Disminuyó en 52 minutos</a:t>
            </a:r>
          </a:p>
          <a:p>
            <a:pPr lvl="0" algn="ctr">
              <a:defRPr/>
            </a:pPr>
            <a:r>
              <a:rPr lang="es-PE"/>
              <a:t> (93,28 %)</a:t>
            </a:r>
          </a:p>
          <a:p>
            <a:pPr lvl="0" algn="ctr">
              <a:defRPr/>
            </a:pPr>
            <a:r>
              <a:rPr lang="es-PE"/>
              <a:t> el tiempo de reserva</a:t>
            </a:r>
          </a:p>
        </p:txBody>
      </p:sp>
    </p:spTree>
    <p:extLst>
      <p:ext uri="{BB962C8B-B14F-4D97-AF65-F5344CB8AC3E}">
        <p14:creationId xmlns:p14="http://schemas.microsoft.com/office/powerpoint/2010/main" val="2794546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6F84667-1FAD-4A44-A7F1-79178D9F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04148"/>
            <a:ext cx="10515600" cy="1325563"/>
          </a:xfrm>
        </p:spPr>
        <p:txBody>
          <a:bodyPr/>
          <a:lstStyle/>
          <a:p>
            <a:pPr algn="ctr"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PROCESO DE VALIDACIÓN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7E99EA9-83A3-48DB-846E-C625D3EF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656" y="1393616"/>
            <a:ext cx="10315892" cy="823912"/>
          </a:xfrm>
        </p:spPr>
        <p:txBody>
          <a:bodyPr/>
          <a:lstStyle/>
          <a:p>
            <a:pPr algn="ctr"/>
            <a:r>
              <a:rPr lang="es-PE">
                <a:solidFill>
                  <a:srgbClr val="CC9D48"/>
                </a:solidFill>
                <a:latin typeface="Solano Gothic MVB Std Cap" panose="02000506030000020004" pitchFamily="50" charset="0"/>
              </a:rPr>
              <a:t>IND03 SATISFACCIÓN DE USUARIO</a:t>
            </a:r>
          </a:p>
        </p:txBody>
      </p:sp>
      <p:pic>
        <p:nvPicPr>
          <p:cNvPr id="10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BF80FF5E-C840-4D13-93EC-142174A5C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575" y="217139"/>
            <a:ext cx="1299274" cy="1299274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7EB84CC3-F3C9-48A8-97ED-0D1E1FBCD4D4}"/>
              </a:ext>
            </a:extLst>
          </p:cNvPr>
          <p:cNvSpPr/>
          <p:nvPr/>
        </p:nvSpPr>
        <p:spPr>
          <a:xfrm>
            <a:off x="580996" y="1387006"/>
            <a:ext cx="2531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>
              <a:buNone/>
            </a:pPr>
            <a:r>
              <a:rPr lang="es-PE" sz="3200">
                <a:latin typeface="Calibri" panose="020F0502020204030204" pitchFamily="34" charset="0"/>
                <a:cs typeface="Calibri" panose="020F0502020204030204" pitchFamily="34" charset="0"/>
              </a:rPr>
              <a:t>5. Resultados</a:t>
            </a: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66795A67-E835-4EFC-A04A-4206BFE92969}"/>
              </a:ext>
            </a:extLst>
          </p:cNvPr>
          <p:cNvGraphicFramePr>
            <a:graphicFrameLocks/>
          </p:cNvGraphicFramePr>
          <p:nvPr/>
        </p:nvGraphicFramePr>
        <p:xfrm>
          <a:off x="1152877" y="2367311"/>
          <a:ext cx="2722375" cy="2546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FB186FBF-6C98-4563-83D3-D4F42593CFC4}"/>
              </a:ext>
            </a:extLst>
          </p:cNvPr>
          <p:cNvGraphicFramePr>
            <a:graphicFrameLocks/>
          </p:cNvGraphicFramePr>
          <p:nvPr/>
        </p:nvGraphicFramePr>
        <p:xfrm>
          <a:off x="8066240" y="2361842"/>
          <a:ext cx="2958506" cy="2534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A8BF73A6-AB80-4F21-A4C3-50966511263E}"/>
              </a:ext>
            </a:extLst>
          </p:cNvPr>
          <p:cNvGraphicFramePr>
            <a:graphicFrameLocks/>
          </p:cNvGraphicFramePr>
          <p:nvPr/>
        </p:nvGraphicFramePr>
        <p:xfrm>
          <a:off x="4699965" y="2369027"/>
          <a:ext cx="2613449" cy="2544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741243-5900-4331-B3BE-8A198866ADB6}"/>
              </a:ext>
            </a:extLst>
          </p:cNvPr>
          <p:cNvSpPr txBox="1"/>
          <p:nvPr/>
        </p:nvSpPr>
        <p:spPr>
          <a:xfrm>
            <a:off x="4149306" y="5385759"/>
            <a:ext cx="616501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PE" sz="1600"/>
              <a:t>El 60% de los encuestados recomiendan la aplicación.</a:t>
            </a:r>
          </a:p>
        </p:txBody>
      </p:sp>
      <p:pic>
        <p:nvPicPr>
          <p:cNvPr id="3" name="Imagen 2" descr="A close up of a logo&#10;&#10;Description automatically generated">
            <a:extLst>
              <a:ext uri="{FF2B5EF4-FFF2-40B4-BE49-F238E27FC236}">
                <a16:creationId xmlns:a16="http://schemas.microsoft.com/office/drawing/2014/main" id="{99203348-9627-4732-B0E1-4FB609585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1245" y="4969730"/>
            <a:ext cx="1325563" cy="13255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72035F-BADA-493D-8DB4-B1D00F801C81}"/>
              </a:ext>
            </a:extLst>
          </p:cNvPr>
          <p:cNvSpPr txBox="1"/>
          <p:nvPr/>
        </p:nvSpPr>
        <p:spPr>
          <a:xfrm>
            <a:off x="4149305" y="5845834"/>
            <a:ext cx="616501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PE" sz="1600"/>
              <a:t>El 25% de los encuestados recomiendan la implementación de instrucciones para reservar una cita en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869044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A0A2FAB-F3A3-406A-B140-8DCBD1AF189D}"/>
              </a:ext>
            </a:extLst>
          </p:cNvPr>
          <p:cNvGraphicFramePr/>
          <p:nvPr/>
        </p:nvGraphicFramePr>
        <p:xfrm>
          <a:off x="-438016" y="1698883"/>
          <a:ext cx="10958976" cy="4353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786622B-9551-45C1-95AA-1FCCF1FC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99" y="500870"/>
            <a:ext cx="10515600" cy="580129"/>
          </a:xfrm>
        </p:spPr>
        <p:txBody>
          <a:bodyPr>
            <a:noAutofit/>
          </a:bodyPr>
          <a:lstStyle/>
          <a:p>
            <a:pPr>
              <a:buClr>
                <a:srgbClr val="EEA40A"/>
              </a:buClr>
              <a:buSzPts val="4000"/>
            </a:pPr>
            <a:r>
              <a:rPr lang="es-PE" sz="4000" b="1" dirty="0">
                <a:solidFill>
                  <a:srgbClr val="FF0000"/>
                </a:solidFill>
              </a:rPr>
              <a:t>OE4. Plan de Continuidad</a:t>
            </a:r>
          </a:p>
        </p:txBody>
      </p:sp>
      <p:pic>
        <p:nvPicPr>
          <p:cNvPr id="5" name="Imagen 9" descr="A close up of a logo&#10;&#10;Description generated with high confidence">
            <a:extLst>
              <a:ext uri="{FF2B5EF4-FFF2-40B4-BE49-F238E27FC236}">
                <a16:creationId xmlns:a16="http://schemas.microsoft.com/office/drawing/2014/main" id="{7FC3909C-7684-4BE9-B652-EE4C69C263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627" y="287937"/>
            <a:ext cx="1299274" cy="1299274"/>
          </a:xfrm>
          <a:prstGeom prst="rect">
            <a:avLst/>
          </a:prstGeom>
        </p:spPr>
      </p:pic>
      <p:pic>
        <p:nvPicPr>
          <p:cNvPr id="16" name="Imagen 15" descr="Imagen que contiene señal, reloj&#10;&#10;Descripción generada automáticamente">
            <a:extLst>
              <a:ext uri="{FF2B5EF4-FFF2-40B4-BE49-F238E27FC236}">
                <a16:creationId xmlns:a16="http://schemas.microsoft.com/office/drawing/2014/main" id="{D38C21D1-EF12-4C62-A339-CBD2EAFC52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424" y="1444254"/>
            <a:ext cx="943075" cy="943075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6DDD7346-D31C-420A-B5F7-26166F20628E}"/>
              </a:ext>
            </a:extLst>
          </p:cNvPr>
          <p:cNvSpPr/>
          <p:nvPr/>
        </p:nvSpPr>
        <p:spPr>
          <a:xfrm>
            <a:off x="8883517" y="2300998"/>
            <a:ext cx="17491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PE" dirty="0"/>
              <a:t>Análisis de Riesgos</a:t>
            </a:r>
          </a:p>
        </p:txBody>
      </p:sp>
      <p:pic>
        <p:nvPicPr>
          <p:cNvPr id="21" name="Imagen 20" descr="Imagen que contiene dibujo, señal&#10;&#10;Descripción generada automáticamente">
            <a:extLst>
              <a:ext uri="{FF2B5EF4-FFF2-40B4-BE49-F238E27FC236}">
                <a16:creationId xmlns:a16="http://schemas.microsoft.com/office/drawing/2014/main" id="{A968F36B-11EC-4698-9AF5-C8998CC40E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2740" y="4127144"/>
            <a:ext cx="745121" cy="745121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8E84BE99-C148-4275-AA00-4A1DBEFFD470}"/>
              </a:ext>
            </a:extLst>
          </p:cNvPr>
          <p:cNvSpPr/>
          <p:nvPr/>
        </p:nvSpPr>
        <p:spPr>
          <a:xfrm>
            <a:off x="7535798" y="5197404"/>
            <a:ext cx="269817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>
                <a:latin typeface="+mn-lt"/>
              </a:rPr>
              <a:t>Seguimiento de las estrategias</a:t>
            </a:r>
            <a:r>
              <a:rPr lang="en-US">
                <a:latin typeface="+mn-lt"/>
              </a:rPr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PE">
                <a:latin typeface="+mn-lt"/>
              </a:rPr>
              <a:t> Planes de mejora</a:t>
            </a:r>
            <a:r>
              <a:rPr lang="en-US">
                <a:latin typeface="+mn-lt"/>
              </a:rPr>
              <a:t>​</a:t>
            </a:r>
          </a:p>
          <a:p>
            <a:pPr lvl="0"/>
            <a:r>
              <a:rPr lang="es-PE">
                <a:latin typeface="+mn-lt"/>
              </a:rPr>
              <a:t> desempeño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DBB4EC-4742-45E2-A351-009F886DA7B1}"/>
              </a:ext>
            </a:extLst>
          </p:cNvPr>
          <p:cNvSpPr/>
          <p:nvPr/>
        </p:nvSpPr>
        <p:spPr>
          <a:xfrm>
            <a:off x="4132012" y="1783779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s-PE">
                <a:solidFill>
                  <a:srgbClr val="444444"/>
                </a:solidFill>
                <a:latin typeface="Calibri" panose="020F0502020204030204" pitchFamily="34" charset="0"/>
              </a:rPr>
              <a:t>Análisis de la organización</a:t>
            </a:r>
            <a:r>
              <a:rPr lang="en-US">
                <a:solidFill>
                  <a:srgbClr val="444444"/>
                </a:solidFill>
                <a:latin typeface="Calibri" panose="020F0502020204030204" pitchFamily="34" charset="0"/>
              </a:rPr>
              <a:t>​</a:t>
            </a:r>
            <a:endParaRPr 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s-PE">
                <a:solidFill>
                  <a:srgbClr val="444444"/>
                </a:solidFill>
                <a:latin typeface="Calibri" panose="020F0502020204030204" pitchFamily="34" charset="0"/>
              </a:rPr>
              <a:t> Análisis de Riesgos</a:t>
            </a:r>
            <a:r>
              <a:rPr lang="en-US">
                <a:solidFill>
                  <a:srgbClr val="444444"/>
                </a:solidFill>
                <a:latin typeface="Calibri" panose="020F0502020204030204" pitchFamily="34" charset="0"/>
              </a:rPr>
              <a:t>​</a:t>
            </a:r>
            <a:endParaRPr 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s-PE">
                <a:solidFill>
                  <a:srgbClr val="444444"/>
                </a:solidFill>
                <a:latin typeface="Calibri" panose="020F0502020204030204" pitchFamily="34" charset="0"/>
              </a:rPr>
              <a:t> Definición de Estrategias de Continuidad</a:t>
            </a:r>
            <a:endParaRPr lang="en-US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9AFB12-0A66-4359-B728-E216F35E6584}"/>
              </a:ext>
            </a:extLst>
          </p:cNvPr>
          <p:cNvSpPr/>
          <p:nvPr/>
        </p:nvSpPr>
        <p:spPr>
          <a:xfrm>
            <a:off x="5892477" y="2773974"/>
            <a:ext cx="362174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s-PE" dirty="0">
                <a:solidFill>
                  <a:srgbClr val="444444"/>
                </a:solidFill>
                <a:latin typeface="Calibri" panose="020F0502020204030204" pitchFamily="34" charset="0"/>
              </a:rPr>
              <a:t> Implementación de proceso de gestión de servicios según ITIL. </a:t>
            </a:r>
            <a:r>
              <a:rPr lang="en-US" dirty="0">
                <a:solidFill>
                  <a:srgbClr val="444444"/>
                </a:solidFill>
                <a:latin typeface="Calibri" panose="020F0502020204030204" pitchFamily="34" charset="0"/>
              </a:rPr>
              <a:t>​</a:t>
            </a:r>
            <a:endParaRPr lang="en-US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s-PE" dirty="0">
                <a:solidFill>
                  <a:srgbClr val="444444"/>
                </a:solidFill>
                <a:latin typeface="Calibri" panose="020F0502020204030204" pitchFamily="34" charset="0"/>
              </a:rPr>
              <a:t> Implementación de Plan de Seguridad</a:t>
            </a:r>
            <a:endParaRPr lang="en-US" dirty="0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BAA540-5504-4217-8708-80BEF05E7D88}"/>
              </a:ext>
            </a:extLst>
          </p:cNvPr>
          <p:cNvSpPr/>
          <p:nvPr/>
        </p:nvSpPr>
        <p:spPr>
          <a:xfrm>
            <a:off x="6487604" y="4130522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s-PE">
                <a:solidFill>
                  <a:srgbClr val="444444"/>
                </a:solidFill>
                <a:latin typeface="Calibri" panose="020F0502020204030204" pitchFamily="34" charset="0"/>
              </a:rPr>
              <a:t>Seguimiento de las estrategias</a:t>
            </a:r>
            <a:r>
              <a:rPr lang="en-US">
                <a:solidFill>
                  <a:srgbClr val="444444"/>
                </a:solidFill>
                <a:latin typeface="Calibri" panose="020F0502020204030204" pitchFamily="34" charset="0"/>
              </a:rPr>
              <a:t>​</a:t>
            </a:r>
            <a:endParaRPr 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s-PE">
                <a:solidFill>
                  <a:srgbClr val="444444"/>
                </a:solidFill>
                <a:latin typeface="Calibri" panose="020F0502020204030204" pitchFamily="34" charset="0"/>
              </a:rPr>
              <a:t> Medición de desempeño</a:t>
            </a:r>
            <a:endParaRPr lang="en-US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968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E455F7FAD3474CA1ACB3106CEC65AC" ma:contentTypeVersion="7" ma:contentTypeDescription="Crear nuevo documento." ma:contentTypeScope="" ma:versionID="90f8e062e179db831de44e8a23ad5340">
  <xsd:schema xmlns:xsd="http://www.w3.org/2001/XMLSchema" xmlns:xs="http://www.w3.org/2001/XMLSchema" xmlns:p="http://schemas.microsoft.com/office/2006/metadata/properties" xmlns:ns2="5b81afc5-e24f-4833-b80a-4a1e0a484bc9" xmlns:ns3="9738a3cf-1b92-41f5-8e1a-1dd91768eb09" targetNamespace="http://schemas.microsoft.com/office/2006/metadata/properties" ma:root="true" ma:fieldsID="a8a66c31891dbbf3f24d82067df8a178" ns2:_="" ns3:_="">
    <xsd:import namespace="5b81afc5-e24f-4833-b80a-4a1e0a484bc9"/>
    <xsd:import namespace="9738a3cf-1b92-41f5-8e1a-1dd91768eb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81afc5-e24f-4833-b80a-4a1e0a484b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8a3cf-1b92-41f5-8e1a-1dd91768eb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0FBC4C-253C-4AB5-8103-E345C16DA7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81afc5-e24f-4833-b80a-4a1e0a484bc9"/>
    <ds:schemaRef ds:uri="9738a3cf-1b92-41f5-8e1a-1dd91768eb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0688D8-8F22-481F-AA3D-01FEFEDD98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507251-A45F-4E27-9240-5FAF5B6E0173}">
  <ds:schemaRefs>
    <ds:schemaRef ds:uri="http://schemas.openxmlformats.org/package/2006/metadata/core-properties"/>
    <ds:schemaRef ds:uri="http://schemas.microsoft.com/office/2006/documentManagement/types"/>
    <ds:schemaRef ds:uri="9738a3cf-1b92-41f5-8e1a-1dd91768eb09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5b81afc5-e24f-4833-b80a-4a1e0a484bc9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13105</TotalTime>
  <Words>2124</Words>
  <Application>Microsoft Office PowerPoint</Application>
  <PresentationFormat>Panorámica</PresentationFormat>
  <Paragraphs>482</Paragraphs>
  <Slides>28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40" baseType="lpstr">
      <vt:lpstr>-apple-system</vt:lpstr>
      <vt:lpstr>Arial</vt:lpstr>
      <vt:lpstr>Calibri</vt:lpstr>
      <vt:lpstr>Calibri </vt:lpstr>
      <vt:lpstr>Calibri Light</vt:lpstr>
      <vt:lpstr>Solano Gothic MVB Lt</vt:lpstr>
      <vt:lpstr>Solano Gothic MVB Std Cap</vt:lpstr>
      <vt:lpstr>Source Sans Pro Light</vt:lpstr>
      <vt:lpstr>Times New Roman</vt:lpstr>
      <vt:lpstr>Times-Roman</vt:lpstr>
      <vt:lpstr>Wingdings</vt:lpstr>
      <vt:lpstr>Tema de Office</vt:lpstr>
      <vt:lpstr>Lineamientos PTI</vt:lpstr>
      <vt:lpstr>Aporte</vt:lpstr>
      <vt:lpstr>Presentación de PowerPoint</vt:lpstr>
      <vt:lpstr>Datos Preliminares</vt:lpstr>
      <vt:lpstr>Objetivos del Proyecto</vt:lpstr>
      <vt:lpstr>Presentación de PowerPoint</vt:lpstr>
      <vt:lpstr>Presentación de PowerPoint</vt:lpstr>
      <vt:lpstr>OE1: Análisis Comparativo</vt:lpstr>
      <vt:lpstr>OE1: Análisis Comparativo de Herramientas</vt:lpstr>
      <vt:lpstr>Presentación de PowerPoint</vt:lpstr>
      <vt:lpstr>OE2: Arquitectura Lógica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PROCESO DE VALIDACIÓN</vt:lpstr>
      <vt:lpstr>PROCESO DE VALIDACIÓN</vt:lpstr>
      <vt:lpstr>PROCESO DE VALIDACIÓN</vt:lpstr>
      <vt:lpstr>PROCESO DE VALIDACIÓN</vt:lpstr>
      <vt:lpstr>PROCESO DE VALIDACIÓN</vt:lpstr>
      <vt:lpstr>OE4. Plan de Continuidad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REUNIÓN DE MITAD DE CICLO 2017-2</dc:title>
  <dc:creator>EMILIO ANTONIO HERRERA TRUJILLO</dc:creator>
  <cp:lastModifiedBy>Daniel Wilfredo W. Burga Durango</cp:lastModifiedBy>
  <cp:revision>291</cp:revision>
  <dcterms:created xsi:type="dcterms:W3CDTF">2017-10-13T23:16:02Z</dcterms:created>
  <dcterms:modified xsi:type="dcterms:W3CDTF">2026-03-31T23:43:59Z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0x0101006EE455F7FAD3474CA1ACB3106CEC65AC</vt:lpwstr>
  </property>
</Properties>
</file>